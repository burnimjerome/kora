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241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en-US" sz="1350" b="1">
                <a:solidFill>
                  <a:srgbClr val="11231F"/>
                </a:solidFill>
              </a:rPr>
              <a:t>Share of items by status</a:t>
            </a:r>
          </a:p>
        </c:rich>
      </c:tx>
      <c:overlay val="0"/>
    </c:title>
    <c:autoTitleDeleted val="0"/>
    <c:plotArea>
      <c:layout/>
      <c:barChart>
        <c:barDir val="bar"/>
        <c:grouping val="percentStacked"/>
        <c:varyColors val="0"/>
        <c:ser>
          <c:idx val="0"/>
          <c:order val="0"/>
          <c:tx>
            <c:v>Done</c:v>
          </c:tx>
          <c:spPr>
            <a:solidFill>
              <a:srgbClr val="006B63"/>
            </a:solidFill>
          </c:spPr>
          <c:invertIfNegative val="0"/>
          <c:cat>
            <c:strLit>
              <c:ptCount val="2"/>
              <c:pt idx="0">
                <c:v>Full board</c:v>
              </c:pt>
              <c:pt idx="1">
                <c:v>MVP1</c:v>
              </c:pt>
            </c:strLit>
          </c:cat>
          <c:val>
            <c:numLit>
              <c:formatCode>General</c:formatCode>
              <c:ptCount val="2"/>
              <c:pt idx="0">
                <c:v>5.9620596205962058E-2</c:v>
              </c:pt>
              <c:pt idx="1">
                <c:v>6.5934065934065936E-2</c:v>
              </c:pt>
            </c:numLit>
          </c:val>
          <c:extLst>
            <c:ext xmlns:c16="http://schemas.microsoft.com/office/drawing/2014/chart" uri="{C3380CC4-5D6E-409C-BE32-E72D297353CC}">
              <c16:uniqueId val="{00000000-C4F9-4CA4-BD23-5863E8E6292C}"/>
            </c:ext>
          </c:extLst>
        </c:ser>
        <c:ser>
          <c:idx val="1"/>
          <c:order val="1"/>
          <c:tx>
            <c:v>Active / ready</c:v>
          </c:tx>
          <c:spPr>
            <a:solidFill>
              <a:srgbClr val="FFB21A"/>
            </a:solidFill>
          </c:spPr>
          <c:invertIfNegative val="0"/>
          <c:cat>
            <c:strLit>
              <c:ptCount val="2"/>
              <c:pt idx="0">
                <c:v>Full board</c:v>
              </c:pt>
              <c:pt idx="1">
                <c:v>MVP1</c:v>
              </c:pt>
            </c:strLit>
          </c:cat>
          <c:val>
            <c:numLit>
              <c:formatCode>General</c:formatCode>
              <c:ptCount val="2"/>
              <c:pt idx="0">
                <c:v>5.4200542005420054E-3</c:v>
              </c:pt>
              <c:pt idx="1">
                <c:v>1.098901098901099E-2</c:v>
              </c:pt>
            </c:numLit>
          </c:val>
          <c:extLst>
            <c:ext xmlns:c16="http://schemas.microsoft.com/office/drawing/2014/chart" uri="{C3380CC4-5D6E-409C-BE32-E72D297353CC}">
              <c16:uniqueId val="{00000001-C4F9-4CA4-BD23-5863E8E6292C}"/>
            </c:ext>
          </c:extLst>
        </c:ser>
        <c:ser>
          <c:idx val="2"/>
          <c:order val="2"/>
          <c:tx>
            <c:v>Backlog</c:v>
          </c:tx>
          <c:spPr>
            <a:solidFill>
              <a:srgbClr val="D9E1DE"/>
            </a:solidFill>
          </c:spPr>
          <c:invertIfNegative val="0"/>
          <c:cat>
            <c:strLit>
              <c:ptCount val="2"/>
              <c:pt idx="0">
                <c:v>Full board</c:v>
              </c:pt>
              <c:pt idx="1">
                <c:v>MVP1</c:v>
              </c:pt>
            </c:strLit>
          </c:cat>
          <c:val>
            <c:numLit>
              <c:formatCode>General</c:formatCode>
              <c:ptCount val="2"/>
              <c:pt idx="0">
                <c:v>0.93495934959349591</c:v>
              </c:pt>
              <c:pt idx="1">
                <c:v>0.92307692307692313</c:v>
              </c:pt>
            </c:numLit>
          </c:val>
          <c:extLst>
            <c:ext xmlns:c16="http://schemas.microsoft.com/office/drawing/2014/chart" uri="{C3380CC4-5D6E-409C-BE32-E72D297353CC}">
              <c16:uniqueId val="{00000002-C4F9-4CA4-BD23-5863E8E629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00" b="1">
                <a:solidFill>
                  <a:srgbClr val="11231F"/>
                </a:solidFill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"/>
          <c:min val="0"/>
        </c:scaling>
        <c:delete val="1"/>
        <c:axPos val="b"/>
        <c:numFmt formatCode="0%" sourceLinked="1"/>
        <c:majorTickMark val="none"/>
        <c:minorTickMark val="none"/>
        <c:tickLblPos val="nextTo"/>
        <c:crossAx val="48650112"/>
        <c:crosses val="autoZero"/>
        <c:crossBetween val="between"/>
      </c:valAx>
      <c:spPr>
        <a:solidFill>
          <a:srgbClr val="FFFFFF"/>
        </a:solidFill>
      </c:spPr>
    </c:plotArea>
    <c:legend>
      <c:legendPos val="b"/>
      <c:overlay val="0"/>
      <c:txPr>
        <a:bodyPr anchorCtr="1"/>
        <a:lstStyle/>
        <a:p>
          <a:pPr>
            <a:defRPr sz="1125">
              <a:solidFill>
                <a:srgbClr val="53635F"/>
              </a:solidFill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FFFFFF"/>
    </a:solidFill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sz="1350" b="1">
                <a:solidFill>
                  <a:srgbClr val="11231F"/>
                </a:solidFill>
              </a:rPr>
              <a:t>MVP1 items by board status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v>MVP1 items</c:v>
          </c:tx>
          <c:spPr>
            <a:solidFill>
              <a:srgbClr val="006B63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D9E1DE"/>
              </a:solidFill>
            </c:spPr>
            <c:extLst>
              <c:ext xmlns:c16="http://schemas.microsoft.com/office/drawing/2014/chart" uri="{C3380CC4-5D6E-409C-BE32-E72D297353CC}">
                <c16:uniqueId val="{00000001-5A82-4D10-A949-044573D7C3B6}"/>
              </c:ext>
            </c:extLst>
          </c:dPt>
          <c:dPt>
            <c:idx val="1"/>
            <c:invertIfNegative val="0"/>
            <c:bubble3D val="0"/>
            <c:spPr>
              <a:solidFill>
                <a:srgbClr val="FFB21A"/>
              </a:solidFill>
            </c:spPr>
            <c:extLst>
              <c:ext xmlns:c16="http://schemas.microsoft.com/office/drawing/2014/chart" uri="{C3380CC4-5D6E-409C-BE32-E72D297353CC}">
                <c16:uniqueId val="{00000003-5A82-4D10-A949-044573D7C3B6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5A82-4D10-A949-044573D7C3B6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125" b="1">
                    <a:solidFill>
                      <a:srgbClr val="11231F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6"/>
              <c:pt idx="0">
                <c:v>Backlog</c:v>
              </c:pt>
              <c:pt idx="1">
                <c:v>Ready</c:v>
              </c:pt>
              <c:pt idx="2">
                <c:v>In Progress</c:v>
              </c:pt>
              <c:pt idx="3">
                <c:v>Review</c:v>
              </c:pt>
              <c:pt idx="4">
                <c:v>QA</c:v>
              </c:pt>
              <c:pt idx="5">
                <c:v>Done</c:v>
              </c:pt>
            </c:strLit>
          </c:cat>
          <c:val>
            <c:numLit>
              <c:formatCode>General</c:formatCode>
              <c:ptCount val="6"/>
              <c:pt idx="0">
                <c:v>84</c:v>
              </c:pt>
              <c:pt idx="1">
                <c:v>1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6</c:v>
              </c:pt>
            </c:numLit>
          </c:val>
          <c:extLst>
            <c:ext xmlns:c16="http://schemas.microsoft.com/office/drawing/2014/chart" uri="{C3380CC4-5D6E-409C-BE32-E72D297353CC}">
              <c16:uniqueId val="{00000006-5A82-4D10-A949-044573D7C3B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EF2F1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975">
                <a:solidFill>
                  <a:srgbClr val="53635F"/>
                </a:solidFill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125" b="1">
                <a:solidFill>
                  <a:srgbClr val="11231F"/>
                </a:solidFill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solidFill>
          <a:srgbClr val="FFFFFF"/>
        </a:solidFill>
      </c:spPr>
    </c:plotArea>
    <c:plotVisOnly val="1"/>
    <c:dispBlanksAs val="zero"/>
    <c:showDLblsOverMax val="1"/>
  </c:chart>
  <c:spPr>
    <a:solidFill>
      <a:srgbClr val="FFFFFF"/>
    </a:solidFill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</a:t>
            </a:r>
          </a:p>
          <a:p>
            <a:r>
              <a:t>https://github.com/users/BurnIMJerome/projects/2</a:t>
            </a:r>
          </a:p>
          <a:p>
            <a:r>
              <a:t>C:\Users\My PC\Downloads\Kora_Likha Product.xlsx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GitHub Project counts observed 12 Oct 2026.</a:t>
            </a:r>
          </a:p>
          <a:p>
            <a:r>
              <a:t>Timeline source: Kora_Likha Product.xlsx, Timeline!B3:R47.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Full board: Backlog 345, Ready 1, In Progress 1, Review 0, QA 0, Done 22, Failed 0.</a:t>
            </a:r>
          </a:p>
          <a:p>
            <a:r>
              <a:t>MVP1: Backlog 84, Ready 1, In Progress 0, Review 0, QA 0, Done 6, Failed 0.</a:t>
            </a:r>
          </a:p>
          <a:p>
            <a:r>
              <a:t>Source: https://github.com/users/BurnIMJerome/projects/2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Kora_Likha Product.xlsx, Timeline!B3:R47.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GitHub Project Done column reviewed 12 Oct 2026.</a:t>
            </a:r>
          </a:p>
          <a:p>
            <a:r>
              <a:t>Image: repository file docs/images/process-designer.png.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https://github.com/users/BurnIMJerome/projects/2/views/1?filterQuery=label%3AMVP1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GitHub Project reviewed 12 Oct 2026; Kora_Likha Product.xlsx, Timeline!B37:I47.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Recovery actions derived from the report's schedule, pipeline and exit-criteria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A99820E-4A40-445E-9467-96D83FB64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EE367578-F825-49AF-A138-5655CF2AAF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1238C49-A623-477B-9BDF-AC2606063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DD83EC6-53F4-4478-9850-6AB507DB1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66D74307-AEBC-4589-A6F8-0ABC7D6F9C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16E564DF-53FE-4334-BDF4-EC6418120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BFFBD78-E4C0-477C-9ECA-81D3720328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6D66E1FC-489E-4C75-8B88-40ED5889337B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3BEE985-F766-4E93-B1BE-108DBF9F4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8810252-629E-404C-BE56-812C7E8D43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3A2AAE3-E31D-43D2-A85A-98960C9C37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810500" y="876300"/>
            <a:ext cx="3333750" cy="33337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BDBDD86-603B-4F93-A074-F908754E8C3C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4191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1650" b="1">
                <a:solidFill>
                  <a:srgbClr val="FFB21A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650" b="1">
                <a:solidFill>
                  <a:srgbClr val="FFB21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B21A"/>
                </a:solidFill>
                <a:latin typeface="Aptos"/>
                <a:ea typeface="Aptos"/>
                <a:cs typeface="Aptos"/>
              </a:rPr>
              <a:t>KORA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3CFCB4-158B-450B-ACD1-12622F424CEF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6477000" cy="169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Development</a:t>
            </a:r>
          </a:p>
          <a:p>
            <a:pPr algn="l"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progress report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F9BB620-7398-482F-8B91-AF682026E98D}"/>
              </a:ext>
            </a:extLst>
          </p:cNvPr>
          <p:cNvSpPr>
            <a:spLocks noGrp="1"/>
          </p:cNvSpPr>
          <p:nvPr/>
        </p:nvSpPr>
        <p:spPr>
          <a:xfrm>
            <a:off x="685800" y="3543300"/>
            <a:ext cx="6477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1650" b="0">
                <a:solidFill>
                  <a:srgbClr val="D9E7E3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650" b="0">
                <a:solidFill>
                  <a:srgbClr val="D9E7E3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D9E7E3"/>
                </a:solidFill>
                <a:latin typeface="Aptos"/>
                <a:ea typeface="Aptos"/>
                <a:cs typeface="Aptos"/>
              </a:rPr>
              <a:t>Milestone alignment, delivery status, risks and recovery plan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E35AC1-4C5B-411E-BBC6-D014D9DC46A2}"/>
              </a:ext>
            </a:extLst>
          </p:cNvPr>
          <p:cNvSpPr>
            <a:spLocks noGrp="1"/>
          </p:cNvSpPr>
          <p:nvPr/>
        </p:nvSpPr>
        <p:spPr>
          <a:xfrm>
            <a:off x="685800" y="4629150"/>
            <a:ext cx="4857750" cy="19050"/>
          </a:xfrm>
          <a:prstGeom prst="rect">
            <a:avLst/>
          </a:prstGeom>
          <a:solidFill>
            <a:srgbClr val="FFB21A"/>
          </a:solidFill>
          <a:ln w="9525">
            <a:solidFill>
              <a:srgbClr val="FFB21A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4CFA3E-D02F-4272-ADE1-E3C2834F3F9F}"/>
              </a:ext>
            </a:extLst>
          </p:cNvPr>
          <p:cNvSpPr>
            <a:spLocks noGrp="1"/>
          </p:cNvSpPr>
          <p:nvPr/>
        </p:nvSpPr>
        <p:spPr>
          <a:xfrm>
            <a:off x="685800" y="4857750"/>
            <a:ext cx="495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12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2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Reporting date  |  12 October 2026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70CD463-F7BA-4543-8D00-3D619804A44F}"/>
              </a:ext>
            </a:extLst>
          </p:cNvPr>
          <p:cNvSpPr>
            <a:spLocks noGrp="1"/>
          </p:cNvSpPr>
          <p:nvPr/>
        </p:nvSpPr>
        <p:spPr>
          <a:xfrm>
            <a:off x="685800" y="6172200"/>
            <a:ext cx="762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900" b="0">
                <a:solidFill>
                  <a:srgbClr val="9BB0A9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900" b="0">
                <a:solidFill>
                  <a:srgbClr val="9BB0A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BB0A9"/>
                </a:solidFill>
                <a:latin typeface="Aptos"/>
                <a:ea typeface="Aptos"/>
                <a:cs typeface="Aptos"/>
              </a:rPr>
              <a:t>Prepared from the GitHub project and Kora_Likha Product.xlsx</a:t>
            </a:r>
          </a:p>
        </p:txBody>
      </p:sp>
    </p:spTree>
    <p:extLst>
      <p:ext uri="{BB962C8B-B14F-4D97-AF65-F5344CB8AC3E}">
        <p14:creationId xmlns:p14="http://schemas.microsoft.com/office/powerpoint/2010/main" val="26488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0C641240-697B-4717-B80E-B464727A145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8953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2400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2400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pPr>
            <a:r>
              <a:rPr sz="2400" b="1" dirty="0">
                <a:solidFill>
                  <a:srgbClr val="11231F"/>
                </a:solidFill>
                <a:latin typeface="Aptos"/>
                <a:ea typeface="Aptos"/>
                <a:cs typeface="Aptos"/>
              </a:rPr>
              <a:t>status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0C1FD7C-2589-46D3-833F-84C2AB9B1DDE}"/>
              </a:ext>
            </a:extLst>
          </p:cNvPr>
          <p:cNvSpPr>
            <a:spLocks noGrp="1"/>
          </p:cNvSpPr>
          <p:nvPr/>
        </p:nvSpPr>
        <p:spPr>
          <a:xfrm>
            <a:off x="609600" y="933450"/>
            <a:ext cx="990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1200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200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3635F"/>
                </a:solidFill>
                <a:latin typeface="Aptos"/>
                <a:ea typeface="Aptos"/>
                <a:cs typeface="Aptos"/>
              </a:rPr>
              <a:t>The delivery pipeline does not match the planned phase gate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FD65F3B-66BD-45F4-8472-1003F7FAC776}"/>
              </a:ext>
            </a:extLst>
          </p:cNvPr>
          <p:cNvSpPr>
            <a:spLocks noGrp="1"/>
          </p:cNvSpPr>
          <p:nvPr/>
        </p:nvSpPr>
        <p:spPr>
          <a:xfrm>
            <a:off x="11049000" y="457200"/>
            <a:ext cx="5143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r">
              <a:defRPr sz="975" b="1">
                <a:solidFill>
                  <a:srgbClr val="006B63"/>
                </a:solidFill>
                <a:latin typeface="Aptos"/>
                <a:ea typeface="Aptos"/>
                <a:cs typeface="Aptos"/>
              </a:defRPr>
            </a:defPPr>
          </a:lstStyle>
          <a:p>
            <a:pPr algn="r">
              <a:defRPr sz="975" b="1">
                <a:solidFill>
                  <a:srgbClr val="006B6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06B63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B2BBE8-CE96-4C74-92FE-55FA1F490749}"/>
              </a:ext>
            </a:extLst>
          </p:cNvPr>
          <p:cNvSpPr>
            <a:spLocks noGrp="1"/>
          </p:cNvSpPr>
          <p:nvPr/>
        </p:nvSpPr>
        <p:spPr>
          <a:xfrm>
            <a:off x="609600" y="1257300"/>
            <a:ext cx="10953750" cy="19050"/>
          </a:xfrm>
          <a:prstGeom prst="rect">
            <a:avLst/>
          </a:prstGeom>
          <a:solidFill>
            <a:srgbClr val="006B63"/>
          </a:solidFill>
          <a:ln w="9525">
            <a:solidFill>
              <a:srgbClr val="006B63"/>
            </a:solidFill>
            <a:prstDash val="solid"/>
          </a:ln>
        </p:spPr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3F89A9-3746-425C-9AF8-3B0CC52E5285}"/>
              </a:ext>
            </a:extLst>
          </p:cNvPr>
          <p:cNvSpPr>
            <a:spLocks noGrp="1"/>
          </p:cNvSpPr>
          <p:nvPr/>
        </p:nvSpPr>
        <p:spPr>
          <a:xfrm>
            <a:off x="609600" y="1581150"/>
            <a:ext cx="2571750" cy="3905250"/>
          </a:xfrm>
          <a:prstGeom prst="roundRect">
            <a:avLst>
              <a:gd name="adj" fmla="val 4444"/>
            </a:avLst>
          </a:prstGeom>
          <a:solidFill>
            <a:srgbClr val="FCE9E7"/>
          </a:solidFill>
          <a:ln w="9525">
            <a:solidFill>
              <a:srgbClr val="FCE9E7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B71A64D-9C4D-46C2-BAF7-9FE5995F86CE}"/>
              </a:ext>
            </a:extLst>
          </p:cNvPr>
          <p:cNvSpPr>
            <a:spLocks noGrp="1"/>
          </p:cNvSpPr>
          <p:nvPr/>
        </p:nvSpPr>
        <p:spPr>
          <a:xfrm>
            <a:off x="876300" y="2000250"/>
            <a:ext cx="2095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ctr">
              <a:defRPr sz="3900" b="1">
                <a:solidFill>
                  <a:srgbClr val="C23B32"/>
                </a:solidFill>
                <a:latin typeface="Aptos"/>
                <a:ea typeface="Aptos"/>
                <a:cs typeface="Aptos"/>
              </a:defRPr>
            </a:defPPr>
          </a:lstStyle>
          <a:p>
            <a:pPr algn="ctr">
              <a:defRPr sz="3900" b="1">
                <a:solidFill>
                  <a:srgbClr val="C23B32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C23B32"/>
                </a:solidFill>
                <a:latin typeface="Aptos"/>
                <a:ea typeface="Aptos"/>
                <a:cs typeface="Aptos"/>
              </a:rPr>
              <a:t>RED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B12089-D81E-4F8A-BFF9-7930CEAFA131}"/>
              </a:ext>
            </a:extLst>
          </p:cNvPr>
          <p:cNvSpPr>
            <a:spLocks noGrp="1"/>
          </p:cNvSpPr>
          <p:nvPr/>
        </p:nvSpPr>
        <p:spPr>
          <a:xfrm>
            <a:off x="876300" y="2876550"/>
            <a:ext cx="20955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ctr">
              <a:defRPr sz="1650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defPPr>
          </a:lstStyle>
          <a:p>
            <a:pPr algn="ctr">
              <a:defRPr sz="1650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231F"/>
                </a:solidFill>
                <a:latin typeface="Aptos"/>
                <a:ea typeface="Aptos"/>
                <a:cs typeface="Aptos"/>
              </a:rPr>
              <a:t>Behind the planned</a:t>
            </a:r>
          </a:p>
          <a:p>
            <a:pPr algn="ctr">
              <a:defRPr sz="1650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231F"/>
                </a:solidFill>
                <a:latin typeface="Aptos"/>
                <a:ea typeface="Aptos"/>
                <a:cs typeface="Aptos"/>
              </a:rPr>
              <a:t>milestone sequence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A7C6625-FF7E-4009-987D-608CE38A30E5}"/>
              </a:ext>
            </a:extLst>
          </p:cNvPr>
          <p:cNvSpPr>
            <a:spLocks noGrp="1"/>
          </p:cNvSpPr>
          <p:nvPr/>
        </p:nvSpPr>
        <p:spPr>
          <a:xfrm>
            <a:off x="876300" y="3924300"/>
            <a:ext cx="20955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ctr">
              <a:defRPr sz="1275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defPPr>
          </a:lstStyle>
          <a:p>
            <a:pPr algn="ctr">
              <a:defRPr sz="1275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3635F"/>
                </a:solidFill>
                <a:latin typeface="Aptos"/>
                <a:ea typeface="Aptos"/>
                <a:cs typeface="Aptos"/>
              </a:rPr>
              <a:t>Testing &amp; Stabilization starts today, but no work is in Review or QA.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4E869E-C009-4F34-BDF3-8D2896C3C5E3}"/>
              </a:ext>
            </a:extLst>
          </p:cNvPr>
          <p:cNvSpPr>
            <a:spLocks noGrp="1"/>
          </p:cNvSpPr>
          <p:nvPr/>
        </p:nvSpPr>
        <p:spPr>
          <a:xfrm>
            <a:off x="3714750" y="1885950"/>
            <a:ext cx="2190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2850" b="1">
                <a:solidFill>
                  <a:srgbClr val="006B63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2850" b="1">
                <a:solidFill>
                  <a:srgbClr val="006B63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06B63"/>
                </a:solidFill>
                <a:latin typeface="Aptos"/>
                <a:ea typeface="Aptos"/>
                <a:cs typeface="Aptos"/>
              </a:rPr>
              <a:t>22 / 369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7619D0B-F7AD-4277-AE92-F371433F03C1}"/>
              </a:ext>
            </a:extLst>
          </p:cNvPr>
          <p:cNvSpPr>
            <a:spLocks noGrp="1"/>
          </p:cNvSpPr>
          <p:nvPr/>
        </p:nvSpPr>
        <p:spPr>
          <a:xfrm>
            <a:off x="3714750" y="264795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1200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200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231F"/>
                </a:solidFill>
                <a:latin typeface="Aptos"/>
                <a:ea typeface="Aptos"/>
                <a:cs typeface="Aptos"/>
              </a:rPr>
              <a:t>Full board Done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ED7A98-E81F-4F3C-83C4-179B5F2261DF}"/>
              </a:ext>
            </a:extLst>
          </p:cNvPr>
          <p:cNvSpPr>
            <a:spLocks noGrp="1"/>
          </p:cNvSpPr>
          <p:nvPr/>
        </p:nvSpPr>
        <p:spPr>
          <a:xfrm>
            <a:off x="3714750" y="2971800"/>
            <a:ext cx="2190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1125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125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3635F"/>
                </a:solidFill>
                <a:latin typeface="Aptos"/>
                <a:ea typeface="Aptos"/>
                <a:cs typeface="Aptos"/>
              </a:rPr>
              <a:t>6.0%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A69D7E-B2D6-4EAD-A325-D348069DF507}"/>
              </a:ext>
            </a:extLst>
          </p:cNvPr>
          <p:cNvSpPr>
            <a:spLocks noGrp="1"/>
          </p:cNvSpPr>
          <p:nvPr/>
        </p:nvSpPr>
        <p:spPr>
          <a:xfrm>
            <a:off x="6286500" y="1885950"/>
            <a:ext cx="2190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2850" b="1">
                <a:solidFill>
                  <a:srgbClr val="006B63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2850" b="1">
                <a:solidFill>
                  <a:srgbClr val="006B63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06B63"/>
                </a:solidFill>
                <a:latin typeface="Aptos"/>
                <a:ea typeface="Aptos"/>
                <a:cs typeface="Aptos"/>
              </a:rPr>
              <a:t>6 / 91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AC8F169-F562-40AB-9829-0191FC59E8E5}"/>
              </a:ext>
            </a:extLst>
          </p:cNvPr>
          <p:cNvSpPr>
            <a:spLocks noGrp="1"/>
          </p:cNvSpPr>
          <p:nvPr/>
        </p:nvSpPr>
        <p:spPr>
          <a:xfrm>
            <a:off x="6286500" y="264795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1200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200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231F"/>
                </a:solidFill>
                <a:latin typeface="Aptos"/>
                <a:ea typeface="Aptos"/>
                <a:cs typeface="Aptos"/>
              </a:rPr>
              <a:t>MVP1 Done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0C76C35-4221-4FD1-A3C9-0F0F1A6AA66E}"/>
              </a:ext>
            </a:extLst>
          </p:cNvPr>
          <p:cNvSpPr>
            <a:spLocks noGrp="1"/>
          </p:cNvSpPr>
          <p:nvPr/>
        </p:nvSpPr>
        <p:spPr>
          <a:xfrm>
            <a:off x="6286500" y="2971800"/>
            <a:ext cx="2190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1125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125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3635F"/>
                </a:solidFill>
                <a:latin typeface="Aptos"/>
                <a:ea typeface="Aptos"/>
                <a:cs typeface="Aptos"/>
              </a:rPr>
              <a:t>6.6%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49FA355-16DB-4329-A683-EE4DB0626481}"/>
              </a:ext>
            </a:extLst>
          </p:cNvPr>
          <p:cNvSpPr>
            <a:spLocks noGrp="1"/>
          </p:cNvSpPr>
          <p:nvPr/>
        </p:nvSpPr>
        <p:spPr>
          <a:xfrm>
            <a:off x="8858250" y="1885950"/>
            <a:ext cx="2190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2850" b="1">
                <a:solidFill>
                  <a:srgbClr val="C23B32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2850" b="1">
                <a:solidFill>
                  <a:srgbClr val="C23B3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C23B32"/>
                </a:solidFill>
                <a:latin typeface="Aptos"/>
                <a:ea typeface="Aptos"/>
                <a:cs typeface="Aptos"/>
              </a:rPr>
              <a:t>18 days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C855E44-4FD4-4285-A032-BF1E2552B74D}"/>
              </a:ext>
            </a:extLst>
          </p:cNvPr>
          <p:cNvSpPr>
            <a:spLocks noGrp="1"/>
          </p:cNvSpPr>
          <p:nvPr/>
        </p:nvSpPr>
        <p:spPr>
          <a:xfrm>
            <a:off x="8858250" y="264795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1200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200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231F"/>
                </a:solidFill>
                <a:latin typeface="Aptos"/>
                <a:ea typeface="Aptos"/>
                <a:cs typeface="Aptos"/>
              </a:rPr>
              <a:t>Until code freeze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6A09217-3DCC-4666-A6BF-ADECE02037C2}"/>
              </a:ext>
            </a:extLst>
          </p:cNvPr>
          <p:cNvSpPr>
            <a:spLocks noGrp="1"/>
          </p:cNvSpPr>
          <p:nvPr/>
        </p:nvSpPr>
        <p:spPr>
          <a:xfrm>
            <a:off x="8858250" y="2971800"/>
            <a:ext cx="2190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1125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125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3635F"/>
                </a:solidFill>
                <a:latin typeface="Aptos"/>
                <a:ea typeface="Aptos"/>
                <a:cs typeface="Aptos"/>
              </a:rPr>
              <a:t>30 Oct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33D75F4-B5FE-4669-BE54-7C0951BEF4C1}"/>
              </a:ext>
            </a:extLst>
          </p:cNvPr>
          <p:cNvSpPr>
            <a:spLocks noGrp="1"/>
          </p:cNvSpPr>
          <p:nvPr/>
        </p:nvSpPr>
        <p:spPr>
          <a:xfrm>
            <a:off x="3714750" y="3829050"/>
            <a:ext cx="723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1500" b="1">
                <a:solidFill>
                  <a:srgbClr val="006B63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500" b="1">
                <a:solidFill>
                  <a:srgbClr val="006B6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06B63"/>
                </a:solidFill>
                <a:latin typeface="Aptos"/>
                <a:ea typeface="Aptos"/>
                <a:cs typeface="Aptos"/>
              </a:rPr>
              <a:t>Management decision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D5EEF3-0DB2-4041-85F3-7F5704D26AE8}"/>
              </a:ext>
            </a:extLst>
          </p:cNvPr>
          <p:cNvSpPr>
            <a:spLocks noGrp="1"/>
          </p:cNvSpPr>
          <p:nvPr/>
        </p:nvSpPr>
        <p:spPr>
          <a:xfrm>
            <a:off x="3714750" y="4267200"/>
            <a:ext cx="7239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1950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950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1231F"/>
                </a:solidFill>
                <a:latin typeface="Aptos"/>
                <a:ea typeface="Aptos"/>
                <a:cs typeface="Aptos"/>
              </a:rPr>
              <a:t>Reduce and freeze the MVP1 release scope now, or formally move the code-freeze and launch dates.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43B7891-5B23-4958-8282-C68A37ECBBC7}"/>
              </a:ext>
            </a:extLst>
          </p:cNvPr>
          <p:cNvSpPr>
            <a:spLocks noGrp="1"/>
          </p:cNvSpPr>
          <p:nvPr/>
        </p:nvSpPr>
        <p:spPr>
          <a:xfrm>
            <a:off x="609600" y="6515100"/>
            <a:ext cx="10953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0000"/>
          </a:bodyPr>
          <a:lstStyle>
            <a:defPPr algn="l">
              <a:defRPr sz="750" b="0">
                <a:solidFill>
                  <a:srgbClr val="6D7B77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750" b="0">
                <a:solidFill>
                  <a:srgbClr val="6D7B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D7B77"/>
                </a:solidFill>
                <a:latin typeface="Aptos"/>
                <a:ea typeface="Aptos"/>
                <a:cs typeface="Aptos"/>
              </a:rPr>
              <a:t>Source: GitHub Project Dev View and Timeline worksheet, reviewed 12 Oct 2026</a:t>
            </a:r>
          </a:p>
        </p:txBody>
      </p:sp>
    </p:spTree>
    <p:extLst>
      <p:ext uri="{BB962C8B-B14F-4D97-AF65-F5344CB8AC3E}">
        <p14:creationId xmlns:p14="http://schemas.microsoft.com/office/powerpoint/2010/main" val="4470646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02B3E69-6FA5-448A-9D38-6FCE25DBC7E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8953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2400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2400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11231F"/>
                </a:solidFill>
                <a:latin typeface="Aptos"/>
                <a:ea typeface="Aptos"/>
                <a:cs typeface="Aptos"/>
              </a:rPr>
              <a:t>Delivery dashboard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E0E5AE-4CAA-4F4D-9502-41E0C5DD827A}"/>
              </a:ext>
            </a:extLst>
          </p:cNvPr>
          <p:cNvSpPr>
            <a:spLocks noGrp="1"/>
          </p:cNvSpPr>
          <p:nvPr/>
        </p:nvSpPr>
        <p:spPr>
          <a:xfrm>
            <a:off x="609600" y="933450"/>
            <a:ext cx="990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1200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200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3635F"/>
                </a:solidFill>
                <a:latin typeface="Aptos"/>
                <a:ea typeface="Aptos"/>
                <a:cs typeface="Aptos"/>
              </a:rPr>
              <a:t>Status counts show limited movement into active delivery and test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CFE7D8-634A-4FF4-92E7-04C19676E875}"/>
              </a:ext>
            </a:extLst>
          </p:cNvPr>
          <p:cNvSpPr>
            <a:spLocks noGrp="1"/>
          </p:cNvSpPr>
          <p:nvPr/>
        </p:nvSpPr>
        <p:spPr>
          <a:xfrm>
            <a:off x="11049000" y="457200"/>
            <a:ext cx="5143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r">
              <a:defRPr sz="975" b="1">
                <a:solidFill>
                  <a:srgbClr val="006B63"/>
                </a:solidFill>
                <a:latin typeface="Aptos"/>
                <a:ea typeface="Aptos"/>
                <a:cs typeface="Aptos"/>
              </a:defRPr>
            </a:defPPr>
          </a:lstStyle>
          <a:p>
            <a:pPr algn="r">
              <a:defRPr sz="975" b="1">
                <a:solidFill>
                  <a:srgbClr val="006B6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06B63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21637B-F804-470A-A0CA-1B9A4FA1BA97}"/>
              </a:ext>
            </a:extLst>
          </p:cNvPr>
          <p:cNvSpPr>
            <a:spLocks noGrp="1"/>
          </p:cNvSpPr>
          <p:nvPr/>
        </p:nvSpPr>
        <p:spPr>
          <a:xfrm>
            <a:off x="609600" y="1257300"/>
            <a:ext cx="10953750" cy="19050"/>
          </a:xfrm>
          <a:prstGeom prst="rect">
            <a:avLst/>
          </a:prstGeom>
          <a:solidFill>
            <a:srgbClr val="006B63"/>
          </a:solidFill>
          <a:ln w="9525">
            <a:solidFill>
              <a:srgbClr val="006B63"/>
            </a:solidFill>
            <a:prstDash val="solid"/>
          </a:ln>
        </p:spPr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7F9FB904-F992-4F5C-A62A-CE0CBD832F31}"/>
              </a:ext>
            </a:extLst>
          </p:cNvPr>
          <p:cNvGraphicFramePr/>
          <p:nvPr/>
        </p:nvGraphicFramePr>
        <p:xfrm>
          <a:off x="666750" y="1638300"/>
          <a:ext cx="7524750" cy="31432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68F46DE-F78C-4B9B-9939-0B8ADD6884D2}"/>
              </a:ext>
            </a:extLst>
          </p:cNvPr>
          <p:cNvSpPr>
            <a:spLocks noGrp="1"/>
          </p:cNvSpPr>
          <p:nvPr/>
        </p:nvSpPr>
        <p:spPr>
          <a:xfrm>
            <a:off x="8724900" y="16573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333"/>
          </a:bodyPr>
          <a:lstStyle>
            <a:defPPr algn="l">
              <a:defRPr sz="1500" b="1">
                <a:solidFill>
                  <a:srgbClr val="006B63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500" b="1">
                <a:solidFill>
                  <a:srgbClr val="006B6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06B63"/>
                </a:solidFill>
                <a:latin typeface="Aptos"/>
                <a:ea typeface="Aptos"/>
                <a:cs typeface="Aptos"/>
              </a:rPr>
              <a:t>Board counts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F587FF0-FBFF-4C7A-A2BD-D2AA7B6F52F8}"/>
              </a:ext>
            </a:extLst>
          </p:cNvPr>
          <p:cNvGraphicFramePr/>
          <p:nvPr/>
        </p:nvGraphicFramePr>
        <p:xfrm>
          <a:off x="8382000" y="2076450"/>
          <a:ext cx="3048000" cy="2857498"/>
        </p:xfrm>
        <a:graphic>
          <a:graphicData uri="http://schemas.openxmlformats.org/drawingml/2006/table">
            <a:tbl>
              <a:tblPr/>
              <a:tblGrid>
                <a:gridCol w="1381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4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8214"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CAD5D1"/>
                      </a:solidFill>
                      <a:prstDash val="soli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>
                      <a:solidFill>
                        <a:srgbClr val="CAD5D1"/>
                      </a:solidFill>
                      <a:prstDash val="soli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Full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>
                      <a:solidFill>
                        <a:srgbClr val="CAD5D1"/>
                      </a:solidFill>
                      <a:prstDash val="soli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MVP1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>
                      <a:solidFill>
                        <a:srgbClr val="CAD5D1"/>
                      </a:solidFill>
                      <a:prstDash val="soli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8214">
                <a:tc>
                  <a:txBody>
                    <a:bodyPr/>
                    <a:lstStyle/>
                    <a:p>
                      <a:r>
                        <a:rPr b="1"/>
                        <a:t>Done</a:t>
                      </a:r>
                    </a:p>
                  </a:txBody>
                  <a:tcPr>
                    <a:lnL w="9525">
                      <a:solidFill>
                        <a:srgbClr val="CAD5D1"/>
                      </a:solidFill>
                      <a:prstDash val="soli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  <a:solidFill>
                      <a:srgbClr val="E8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8214">
                <a:tc>
                  <a:txBody>
                    <a:bodyPr/>
                    <a:lstStyle/>
                    <a:p>
                      <a:r>
                        <a:rPr b="1"/>
                        <a:t>In Progress</a:t>
                      </a:r>
                    </a:p>
                  </a:txBody>
                  <a:tcPr>
                    <a:lnL w="9525">
                      <a:solidFill>
                        <a:srgbClr val="CAD5D1"/>
                      </a:solidFill>
                      <a:prstDash val="soli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8214">
                <a:tc>
                  <a:txBody>
                    <a:bodyPr/>
                    <a:lstStyle/>
                    <a:p>
                      <a:r>
                        <a:rPr b="1"/>
                        <a:t>Ready</a:t>
                      </a:r>
                    </a:p>
                  </a:txBody>
                  <a:tcPr>
                    <a:lnL w="9525">
                      <a:solidFill>
                        <a:srgbClr val="CAD5D1"/>
                      </a:solidFill>
                      <a:prstDash val="soli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8214">
                <a:tc>
                  <a:txBody>
                    <a:bodyPr/>
                    <a:lstStyle/>
                    <a:p>
                      <a:r>
                        <a:rPr b="1"/>
                        <a:t>Review</a:t>
                      </a:r>
                    </a:p>
                  </a:txBody>
                  <a:tcPr>
                    <a:lnL w="9525">
                      <a:solidFill>
                        <a:srgbClr val="CAD5D1"/>
                      </a:solidFill>
                      <a:prstDash val="soli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8214">
                <a:tc>
                  <a:txBody>
                    <a:bodyPr/>
                    <a:lstStyle/>
                    <a:p>
                      <a:r>
                        <a:rPr b="1"/>
                        <a:t>QA</a:t>
                      </a:r>
                    </a:p>
                  </a:txBody>
                  <a:tcPr>
                    <a:lnL w="9525">
                      <a:solidFill>
                        <a:srgbClr val="CAD5D1"/>
                      </a:solidFill>
                      <a:prstDash val="soli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8214">
                <a:tc>
                  <a:txBody>
                    <a:bodyPr/>
                    <a:lstStyle/>
                    <a:p>
                      <a:r>
                        <a:rPr b="1"/>
                        <a:t>Backlog</a:t>
                      </a:r>
                    </a:p>
                  </a:txBody>
                  <a:tcPr>
                    <a:lnL w="9525">
                      <a:solidFill>
                        <a:srgbClr val="CAD5D1"/>
                      </a:solidFill>
                      <a:prstDash val="soli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  <a:solidFill>
                      <a:srgbClr val="FCE9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345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4CFC8F1B-F1CC-4D5A-8089-3186372087D0}"/>
              </a:ext>
            </a:extLst>
          </p:cNvPr>
          <p:cNvSpPr>
            <a:spLocks noGrp="1"/>
          </p:cNvSpPr>
          <p:nvPr/>
        </p:nvSpPr>
        <p:spPr>
          <a:xfrm>
            <a:off x="685800" y="5257800"/>
            <a:ext cx="10287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1275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275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3635F"/>
                </a:solidFill>
                <a:latin typeface="Aptos"/>
                <a:ea typeface="Aptos"/>
                <a:cs typeface="Aptos"/>
              </a:rPr>
              <a:t>Completion is a card-count measure. Items have no visible effort estimates, so it does not represent weighted engineering effort.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ABD4070-9D63-4309-BD9C-46F9823EF5B1}"/>
              </a:ext>
            </a:extLst>
          </p:cNvPr>
          <p:cNvSpPr>
            <a:spLocks noGrp="1"/>
          </p:cNvSpPr>
          <p:nvPr/>
        </p:nvSpPr>
        <p:spPr>
          <a:xfrm>
            <a:off x="609600" y="6515100"/>
            <a:ext cx="10953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0000"/>
          </a:bodyPr>
          <a:lstStyle>
            <a:defPPr algn="l">
              <a:defRPr sz="750" b="0">
                <a:solidFill>
                  <a:srgbClr val="6D7B77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750" b="0">
                <a:solidFill>
                  <a:srgbClr val="6D7B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D7B77"/>
                </a:solidFill>
                <a:latin typeface="Aptos"/>
                <a:ea typeface="Aptos"/>
                <a:cs typeface="Aptos"/>
              </a:rPr>
              <a:t>Source: GitHub Project Dev View; MVP1 filter returned 91 matching items</a:t>
            </a:r>
          </a:p>
        </p:txBody>
      </p:sp>
    </p:spTree>
    <p:extLst>
      <p:ext uri="{BB962C8B-B14F-4D97-AF65-F5344CB8AC3E}">
        <p14:creationId xmlns:p14="http://schemas.microsoft.com/office/powerpoint/2010/main" val="7921473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4E01CA9-CD9F-412B-A1B0-245D4E42EAF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8953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2400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2400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11231F"/>
                </a:solidFill>
                <a:latin typeface="Aptos"/>
                <a:ea typeface="Aptos"/>
                <a:cs typeface="Aptos"/>
              </a:rPr>
              <a:t>Progress against the planned timeline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E70BDB-0069-4649-A411-D2A3B84D4784}"/>
              </a:ext>
            </a:extLst>
          </p:cNvPr>
          <p:cNvSpPr>
            <a:spLocks noGrp="1"/>
          </p:cNvSpPr>
          <p:nvPr/>
        </p:nvSpPr>
        <p:spPr>
          <a:xfrm>
            <a:off x="609600" y="933450"/>
            <a:ext cx="990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1200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200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3635F"/>
                </a:solidFill>
                <a:latin typeface="Aptos"/>
                <a:ea typeface="Aptos"/>
                <a:cs typeface="Aptos"/>
              </a:rPr>
              <a:t>The plan has entered testing while most release work remains in backlog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308E1A-B265-4233-BC16-9E309440F0B3}"/>
              </a:ext>
            </a:extLst>
          </p:cNvPr>
          <p:cNvSpPr>
            <a:spLocks noGrp="1"/>
          </p:cNvSpPr>
          <p:nvPr/>
        </p:nvSpPr>
        <p:spPr>
          <a:xfrm>
            <a:off x="11049000" y="457200"/>
            <a:ext cx="5143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r">
              <a:defRPr sz="975" b="1">
                <a:solidFill>
                  <a:srgbClr val="006B63"/>
                </a:solidFill>
                <a:latin typeface="Aptos"/>
                <a:ea typeface="Aptos"/>
                <a:cs typeface="Aptos"/>
              </a:defRPr>
            </a:defPPr>
          </a:lstStyle>
          <a:p>
            <a:pPr algn="r">
              <a:defRPr sz="975" b="1">
                <a:solidFill>
                  <a:srgbClr val="006B6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06B63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CFE9E8-CAB7-47AB-B00D-D94EA47ED6C4}"/>
              </a:ext>
            </a:extLst>
          </p:cNvPr>
          <p:cNvSpPr>
            <a:spLocks noGrp="1"/>
          </p:cNvSpPr>
          <p:nvPr/>
        </p:nvSpPr>
        <p:spPr>
          <a:xfrm>
            <a:off x="609600" y="1257300"/>
            <a:ext cx="10953750" cy="19050"/>
          </a:xfrm>
          <a:prstGeom prst="rect">
            <a:avLst/>
          </a:prstGeom>
          <a:solidFill>
            <a:srgbClr val="006B63"/>
          </a:solidFill>
          <a:ln w="9525">
            <a:solidFill>
              <a:srgbClr val="006B63"/>
            </a:solidFill>
            <a:prstDash val="solid"/>
          </a:ln>
        </p:spPr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ECD3FDA-2FBD-4338-943F-FD8505E95413}"/>
              </a:ext>
            </a:extLst>
          </p:cNvPr>
          <p:cNvGraphicFramePr/>
          <p:nvPr/>
        </p:nvGraphicFramePr>
        <p:xfrm>
          <a:off x="609600" y="1619250"/>
          <a:ext cx="10953750" cy="42062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1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86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r>
                        <a:t>Milestone</a:t>
                      </a:r>
                    </a:p>
                  </a:txBody>
                  <a:tcPr>
                    <a:lnL w="9525">
                      <a:solidFill>
                        <a:srgbClr val="CAD5D1"/>
                      </a:solidFill>
                      <a:prstDash val="soli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>
                      <a:solidFill>
                        <a:srgbClr val="CAD5D1"/>
                      </a:solidFill>
                      <a:prstDash val="soli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Planned date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>
                      <a:solidFill>
                        <a:srgbClr val="CAD5D1"/>
                      </a:solidFill>
                      <a:prstDash val="soli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Current evidence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>
                      <a:solidFill>
                        <a:srgbClr val="CAD5D1"/>
                      </a:solidFill>
                      <a:prstDash val="soli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Assessment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>
                      <a:solidFill>
                        <a:srgbClr val="CAD5D1"/>
                      </a:solidFill>
                      <a:prstDash val="soli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b="1"/>
                        <a:t>Scope alignment</a:t>
                      </a:r>
                    </a:p>
                  </a:txBody>
                  <a:tcPr>
                    <a:lnL w="9525">
                      <a:solidFill>
                        <a:srgbClr val="CAD5D1"/>
                      </a:solidFill>
                      <a:prstDash val="soli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17–25 Sep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Backlog definition and prioritization still ongoing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AMBER / RED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  <a:solidFill>
                      <a:srgbClr val="FFF3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b="1"/>
                        <a:t>Product development</a:t>
                      </a:r>
                    </a:p>
                  </a:txBody>
                  <a:tcPr>
                    <a:lnL w="9525">
                      <a:solidFill>
                        <a:srgbClr val="CAD5D1"/>
                      </a:solidFill>
                      <a:prstDash val="soli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 Sep–9 Oct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 Done overall; 6 Done in MVP1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C23B32"/>
                          </a:solidFill>
                          <a:latin typeface="Aptos"/>
                          <a:ea typeface="Aptos"/>
                          <a:cs typeface="Aptos"/>
                        </a:rPr>
                        <a:t>RED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  <a:solidFill>
                      <a:srgbClr val="FCE9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b="1"/>
                        <a:t>Testing &amp; stabilization</a:t>
                      </a:r>
                    </a:p>
                  </a:txBody>
                  <a:tcPr>
                    <a:lnL w="9525">
                      <a:solidFill>
                        <a:srgbClr val="CAD5D1"/>
                      </a:solidFill>
                      <a:prstDash val="soli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12–30 Oct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 in Review and 0 in QA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C23B32"/>
                          </a:solidFill>
                          <a:latin typeface="Aptos"/>
                          <a:ea typeface="Aptos"/>
                          <a:cs typeface="Aptos"/>
                        </a:rPr>
                        <a:t>RED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  <a:solidFill>
                      <a:srgbClr val="FCE9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b="1"/>
                        <a:t>Code freeze</a:t>
                      </a:r>
                    </a:p>
                  </a:txBody>
                  <a:tcPr>
                    <a:lnL w="9525">
                      <a:solidFill>
                        <a:srgbClr val="CAD5D1"/>
                      </a:solidFill>
                      <a:prstDash val="soli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 Oct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 days remain; gates not evidenced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7A5200"/>
                          </a:solidFill>
                          <a:latin typeface="Aptos"/>
                          <a:ea typeface="Aptos"/>
                          <a:cs typeface="Aptos"/>
                        </a:rPr>
                        <a:t>AT RISK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  <a:solidFill>
                      <a:srgbClr val="FFF3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b="1"/>
                        <a:t>Beta testing</a:t>
                      </a:r>
                    </a:p>
                  </a:txBody>
                  <a:tcPr>
                    <a:lnL w="9525">
                      <a:solidFill>
                        <a:srgbClr val="CAD5D1"/>
                      </a:solidFill>
                      <a:prstDash val="soli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 Oct–30 Nov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Depends on a stable release candidate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7A5200"/>
                          </a:solidFill>
                          <a:latin typeface="Aptos"/>
                          <a:ea typeface="Aptos"/>
                          <a:cs typeface="Aptos"/>
                        </a:rPr>
                        <a:t>AT RISK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  <a:solidFill>
                      <a:srgbClr val="FFF3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b="1"/>
                        <a:t>Launch</a:t>
                      </a:r>
                    </a:p>
                  </a:txBody>
                  <a:tcPr>
                    <a:lnL w="9525">
                      <a:solidFill>
                        <a:srgbClr val="CAD5D1"/>
                      </a:solidFill>
                      <a:prstDash val="soli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 Dec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Depends on recovery in October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7A5200"/>
                          </a:solidFill>
                          <a:latin typeface="Aptos"/>
                          <a:ea typeface="Aptos"/>
                          <a:cs typeface="Aptos"/>
                        </a:rPr>
                        <a:t>AT RISK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  <a:solidFill>
                      <a:srgbClr val="FFF3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CC664F53-7698-4CF4-BF0B-1C64C06FEDB0}"/>
              </a:ext>
            </a:extLst>
          </p:cNvPr>
          <p:cNvSpPr>
            <a:spLocks noGrp="1"/>
          </p:cNvSpPr>
          <p:nvPr/>
        </p:nvSpPr>
        <p:spPr>
          <a:xfrm>
            <a:off x="609600" y="5810250"/>
            <a:ext cx="10668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1275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275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3635F"/>
                </a:solidFill>
                <a:latin typeface="Aptos"/>
                <a:ea typeface="Aptos"/>
                <a:cs typeface="Aptos"/>
              </a:rPr>
              <a:t>The workbook's development exit criteria require complete agreed development, peer review, merged PRs, no critical blockers and testable builds.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CBD310-B9AE-4B25-8C62-DDB06D3C3E67}"/>
              </a:ext>
            </a:extLst>
          </p:cNvPr>
          <p:cNvSpPr>
            <a:spLocks noGrp="1"/>
          </p:cNvSpPr>
          <p:nvPr/>
        </p:nvSpPr>
        <p:spPr>
          <a:xfrm>
            <a:off x="609600" y="6515100"/>
            <a:ext cx="10953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0000"/>
          </a:bodyPr>
          <a:lstStyle>
            <a:defPPr algn="l">
              <a:defRPr sz="750" b="0">
                <a:solidFill>
                  <a:srgbClr val="6D7B77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750" b="0">
                <a:solidFill>
                  <a:srgbClr val="6D7B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D7B77"/>
                </a:solidFill>
                <a:latin typeface="Aptos"/>
                <a:ea typeface="Aptos"/>
                <a:cs typeface="Aptos"/>
              </a:rPr>
              <a:t>Source: Kora_Likha Product.xlsx, Timeline worksheet</a:t>
            </a:r>
          </a:p>
        </p:txBody>
      </p:sp>
    </p:spTree>
    <p:extLst>
      <p:ext uri="{BB962C8B-B14F-4D97-AF65-F5344CB8AC3E}">
        <p14:creationId xmlns:p14="http://schemas.microsoft.com/office/powerpoint/2010/main" val="4956700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CC6B6B2F-8038-457C-89AF-23CF50A71D1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8953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2400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2400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11231F"/>
                </a:solidFill>
                <a:latin typeface="Aptos"/>
                <a:ea typeface="Aptos"/>
                <a:cs typeface="Aptos"/>
              </a:rPr>
              <a:t>Delivered capabilities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0380EDC-EF0C-42BC-9F08-8399DC994DFA}"/>
              </a:ext>
            </a:extLst>
          </p:cNvPr>
          <p:cNvSpPr>
            <a:spLocks noGrp="1"/>
          </p:cNvSpPr>
          <p:nvPr/>
        </p:nvSpPr>
        <p:spPr>
          <a:xfrm>
            <a:off x="609600" y="933450"/>
            <a:ext cx="990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1200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200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3635F"/>
                </a:solidFill>
                <a:latin typeface="Aptos"/>
                <a:ea typeface="Aptos"/>
                <a:cs typeface="Aptos"/>
              </a:rPr>
              <a:t>The Done column shows useful foundations across Flow, activities, application UI and agents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03302EC-9B22-40DC-BA2E-530B139862B2}"/>
              </a:ext>
            </a:extLst>
          </p:cNvPr>
          <p:cNvSpPr>
            <a:spLocks noGrp="1"/>
          </p:cNvSpPr>
          <p:nvPr/>
        </p:nvSpPr>
        <p:spPr>
          <a:xfrm>
            <a:off x="11049000" y="457200"/>
            <a:ext cx="5143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r">
              <a:defRPr sz="975" b="1">
                <a:solidFill>
                  <a:srgbClr val="006B63"/>
                </a:solidFill>
                <a:latin typeface="Aptos"/>
                <a:ea typeface="Aptos"/>
                <a:cs typeface="Aptos"/>
              </a:defRPr>
            </a:defPPr>
          </a:lstStyle>
          <a:p>
            <a:pPr algn="r">
              <a:defRPr sz="975" b="1">
                <a:solidFill>
                  <a:srgbClr val="006B6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06B63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2DD58E-87FF-470F-89ED-A17239641BB9}"/>
              </a:ext>
            </a:extLst>
          </p:cNvPr>
          <p:cNvSpPr>
            <a:spLocks noGrp="1"/>
          </p:cNvSpPr>
          <p:nvPr/>
        </p:nvSpPr>
        <p:spPr>
          <a:xfrm>
            <a:off x="609600" y="1257300"/>
            <a:ext cx="10953750" cy="19050"/>
          </a:xfrm>
          <a:prstGeom prst="rect">
            <a:avLst/>
          </a:prstGeom>
          <a:solidFill>
            <a:srgbClr val="006B63"/>
          </a:solidFill>
          <a:ln w="9525">
            <a:solidFill>
              <a:srgbClr val="006B63"/>
            </a:solidFill>
            <a:prstDash val="solid"/>
          </a:ln>
        </p:spPr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58ED80-C438-4CA4-BDAF-F87FCECD56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1" b="51"/>
          <a:stretch>
            <a:fillRect/>
          </a:stretch>
        </p:blipFill>
        <p:spPr>
          <a:xfrm>
            <a:off x="5524500" y="1695450"/>
            <a:ext cx="6048375" cy="3333750"/>
          </a:xfrm>
          <a:prstGeom prst="roundRect">
            <a:avLst>
              <a:gd name="adj" fmla="val 3429"/>
            </a:avLst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07A7DA5-3E9F-464E-951D-CAF533365A0C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4286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2250" b="1">
                <a:solidFill>
                  <a:srgbClr val="006B63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2250" b="1">
                <a:solidFill>
                  <a:srgbClr val="006B63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06B63"/>
                </a:solidFill>
                <a:latin typeface="Aptos"/>
                <a:ea typeface="Aptos"/>
                <a:cs typeface="Aptos"/>
              </a:rPr>
              <a:t>22 items are Done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F180C1-1601-48C0-9E9A-DF0E00914EE0}"/>
              </a:ext>
            </a:extLst>
          </p:cNvPr>
          <p:cNvSpPr>
            <a:spLocks noGrp="1"/>
          </p:cNvSpPr>
          <p:nvPr/>
        </p:nvSpPr>
        <p:spPr>
          <a:xfrm>
            <a:off x="609600" y="236220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9474"/>
          </a:bodyPr>
          <a:lstStyle>
            <a:defPPr algn="l">
              <a:defRPr sz="1425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425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231F"/>
                </a:solidFill>
                <a:latin typeface="Aptos"/>
                <a:ea typeface="Aptos"/>
                <a:cs typeface="Aptos"/>
              </a:rPr>
              <a:t>Flow designer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8361CA-F887-43DA-9D68-1AA5910C51B5}"/>
              </a:ext>
            </a:extLst>
          </p:cNvPr>
          <p:cNvSpPr>
            <a:spLocks noGrp="1"/>
          </p:cNvSpPr>
          <p:nvPr/>
        </p:nvSpPr>
        <p:spPr>
          <a:xfrm>
            <a:off x="609600" y="2705100"/>
            <a:ext cx="42862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1275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275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3635F"/>
                </a:solidFill>
                <a:latin typeface="Aptos"/>
                <a:ea typeface="Aptos"/>
                <a:cs typeface="Aptos"/>
              </a:rPr>
              <a:t>Precise card insertion, keyboard shortcuts, comment and uncomment, Intellisense and modular activity architecture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5FADAC-7519-41E4-8B39-C28ADAEF7834}"/>
              </a:ext>
            </a:extLst>
          </p:cNvPr>
          <p:cNvSpPr>
            <a:spLocks noGrp="1"/>
          </p:cNvSpPr>
          <p:nvPr/>
        </p:nvSpPr>
        <p:spPr>
          <a:xfrm>
            <a:off x="609600" y="36957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9474"/>
          </a:bodyPr>
          <a:lstStyle>
            <a:defPPr algn="l">
              <a:defRPr sz="1425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425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231F"/>
                </a:solidFill>
                <a:latin typeface="Aptos"/>
                <a:ea typeface="Aptos"/>
                <a:cs typeface="Aptos"/>
              </a:rPr>
              <a:t>Programming and collections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12C89A-5B1D-46ED-8375-CACF4727CE65}"/>
              </a:ext>
            </a:extLst>
          </p:cNvPr>
          <p:cNvSpPr>
            <a:spLocks noGrp="1"/>
          </p:cNvSpPr>
          <p:nvPr/>
        </p:nvSpPr>
        <p:spPr>
          <a:xfrm>
            <a:off x="609600" y="4038600"/>
            <a:ext cx="42862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1275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275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3635F"/>
                </a:solidFill>
                <a:latin typeface="Aptos"/>
                <a:ea typeface="Aptos"/>
                <a:cs typeface="Aptos"/>
              </a:rPr>
              <a:t>Create List, Update List Item, Read List Item, Matches, Output Data Table, Else If, Multiple Assign and related activities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3A2E25-08EF-4BB6-B2DC-AB46422D076F}"/>
              </a:ext>
            </a:extLst>
          </p:cNvPr>
          <p:cNvSpPr>
            <a:spLocks noGrp="1"/>
          </p:cNvSpPr>
          <p:nvPr/>
        </p:nvSpPr>
        <p:spPr>
          <a:xfrm>
            <a:off x="609600" y="502920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9474"/>
          </a:bodyPr>
          <a:lstStyle>
            <a:defPPr algn="l">
              <a:defRPr sz="1425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425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231F"/>
                </a:solidFill>
                <a:latin typeface="Aptos"/>
                <a:ea typeface="Aptos"/>
                <a:cs typeface="Aptos"/>
              </a:rPr>
              <a:t>Application and agent UI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7F4976-AB97-47CB-9FBB-A20A9885D991}"/>
              </a:ext>
            </a:extLst>
          </p:cNvPr>
          <p:cNvSpPr>
            <a:spLocks noGrp="1"/>
          </p:cNvSpPr>
          <p:nvPr/>
        </p:nvSpPr>
        <p:spPr>
          <a:xfrm>
            <a:off x="609600" y="5372100"/>
            <a:ext cx="42862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1275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275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3635F"/>
                </a:solidFill>
                <a:latin typeface="Aptos"/>
                <a:ea typeface="Aptos"/>
                <a:cs typeface="Aptos"/>
              </a:rPr>
              <a:t>Global Variables, Agent Home, Variable Panel improvements and product rebranding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341CA0C-7895-49B2-8D27-67CE998CC6C4}"/>
              </a:ext>
            </a:extLst>
          </p:cNvPr>
          <p:cNvSpPr>
            <a:spLocks noGrp="1"/>
          </p:cNvSpPr>
          <p:nvPr/>
        </p:nvSpPr>
        <p:spPr>
          <a:xfrm>
            <a:off x="5524500" y="5181600"/>
            <a:ext cx="60483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939"/>
          </a:bodyPr>
          <a:lstStyle>
            <a:defPPr algn="r">
              <a:defRPr sz="825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defPPr>
          </a:lstStyle>
          <a:p>
            <a:pPr algn="r">
              <a:defRPr sz="825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3635F"/>
                </a:solidFill>
                <a:latin typeface="Aptos"/>
                <a:ea typeface="Aptos"/>
                <a:cs typeface="Aptos"/>
              </a:rPr>
              <a:t>Product screenshot from the KORA documentation repository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BC507E0-D730-41F8-8152-AF83B5A77434}"/>
              </a:ext>
            </a:extLst>
          </p:cNvPr>
          <p:cNvSpPr>
            <a:spLocks noGrp="1"/>
          </p:cNvSpPr>
          <p:nvPr/>
        </p:nvSpPr>
        <p:spPr>
          <a:xfrm>
            <a:off x="609600" y="6515100"/>
            <a:ext cx="10953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0000"/>
          </a:bodyPr>
          <a:lstStyle>
            <a:defPPr algn="l">
              <a:defRPr sz="750" b="0">
                <a:solidFill>
                  <a:srgbClr val="6D7B77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750" b="0">
                <a:solidFill>
                  <a:srgbClr val="6D7B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D7B77"/>
                </a:solidFill>
                <a:latin typeface="Aptos"/>
                <a:ea typeface="Aptos"/>
                <a:cs typeface="Aptos"/>
              </a:rPr>
              <a:t>Source: GitHub Project Done column; KORA documentation assets</a:t>
            </a:r>
          </a:p>
        </p:txBody>
      </p:sp>
    </p:spTree>
    <p:extLst>
      <p:ext uri="{BB962C8B-B14F-4D97-AF65-F5344CB8AC3E}">
        <p14:creationId xmlns:p14="http://schemas.microsoft.com/office/powerpoint/2010/main" val="4259272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E4254F31-658C-4BB6-BF99-9424EC6B861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8953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2400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2400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11231F"/>
                </a:solidFill>
                <a:latin typeface="Aptos"/>
                <a:ea typeface="Aptos"/>
                <a:cs typeface="Aptos"/>
              </a:rPr>
              <a:t>MVP1 delivery pipeline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DBA68A-DA89-43F7-92AF-49C7D0197DEE}"/>
              </a:ext>
            </a:extLst>
          </p:cNvPr>
          <p:cNvSpPr>
            <a:spLocks noGrp="1"/>
          </p:cNvSpPr>
          <p:nvPr/>
        </p:nvSpPr>
        <p:spPr>
          <a:xfrm>
            <a:off x="609600" y="933450"/>
            <a:ext cx="990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1200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200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3635F"/>
                </a:solidFill>
                <a:latin typeface="Aptos"/>
                <a:ea typeface="Aptos"/>
                <a:cs typeface="Aptos"/>
              </a:rPr>
              <a:t>Most release-labelled work has not entered development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C1E813-CBAA-4CF6-A3B2-0C491A9AF7C6}"/>
              </a:ext>
            </a:extLst>
          </p:cNvPr>
          <p:cNvSpPr>
            <a:spLocks noGrp="1"/>
          </p:cNvSpPr>
          <p:nvPr/>
        </p:nvSpPr>
        <p:spPr>
          <a:xfrm>
            <a:off x="11049000" y="457200"/>
            <a:ext cx="5143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r">
              <a:defRPr sz="975" b="1">
                <a:solidFill>
                  <a:srgbClr val="006B63"/>
                </a:solidFill>
                <a:latin typeface="Aptos"/>
                <a:ea typeface="Aptos"/>
                <a:cs typeface="Aptos"/>
              </a:defRPr>
            </a:defPPr>
          </a:lstStyle>
          <a:p>
            <a:pPr algn="r">
              <a:defRPr sz="975" b="1">
                <a:solidFill>
                  <a:srgbClr val="006B6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06B63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CF447F2-DF01-4DBB-99D3-D6C181ED9997}"/>
              </a:ext>
            </a:extLst>
          </p:cNvPr>
          <p:cNvSpPr>
            <a:spLocks noGrp="1"/>
          </p:cNvSpPr>
          <p:nvPr/>
        </p:nvSpPr>
        <p:spPr>
          <a:xfrm>
            <a:off x="609600" y="1257300"/>
            <a:ext cx="10953750" cy="19050"/>
          </a:xfrm>
          <a:prstGeom prst="rect">
            <a:avLst/>
          </a:prstGeom>
          <a:solidFill>
            <a:srgbClr val="006B63"/>
          </a:solidFill>
          <a:ln w="9525">
            <a:solidFill>
              <a:srgbClr val="006B63"/>
            </a:solidFill>
            <a:prstDash val="solid"/>
          </a:ln>
        </p:spPr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3246F4D1-A36A-4B3D-A0C8-51F62A02C7B0}"/>
              </a:ext>
            </a:extLst>
          </p:cNvPr>
          <p:cNvGraphicFramePr/>
          <p:nvPr/>
        </p:nvGraphicFramePr>
        <p:xfrm>
          <a:off x="609600" y="1619250"/>
          <a:ext cx="647700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06DB7129-B69B-435B-B965-4F326AB1C2CD}"/>
              </a:ext>
            </a:extLst>
          </p:cNvPr>
          <p:cNvSpPr>
            <a:spLocks noGrp="1"/>
          </p:cNvSpPr>
          <p:nvPr/>
        </p:nvSpPr>
        <p:spPr>
          <a:xfrm>
            <a:off x="7715250" y="18288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444"/>
          </a:bodyPr>
          <a:lstStyle>
            <a:defPPr algn="l">
              <a:defRPr sz="1350" b="1">
                <a:solidFill>
                  <a:srgbClr val="FFB21A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350" b="1">
                <a:solidFill>
                  <a:srgbClr val="FFB21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B21A"/>
                </a:solidFill>
                <a:latin typeface="Aptos"/>
                <a:ea typeface="Aptos"/>
                <a:cs typeface="Aptos"/>
              </a:rPr>
              <a:t>Ready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0D1D274-FC71-4C77-AE14-6E7A443F72DE}"/>
              </a:ext>
            </a:extLst>
          </p:cNvPr>
          <p:cNvSpPr>
            <a:spLocks noGrp="1"/>
          </p:cNvSpPr>
          <p:nvPr/>
        </p:nvSpPr>
        <p:spPr>
          <a:xfrm>
            <a:off x="7715250" y="2171700"/>
            <a:ext cx="3333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1575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575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231F"/>
                </a:solidFill>
                <a:latin typeface="Aptos"/>
                <a:ea typeface="Aptos"/>
                <a:cs typeface="Aptos"/>
              </a:rPr>
              <a:t>Agent Publish function  #352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897C9E-7EE9-4ED7-89D0-34FB4E7D577C}"/>
              </a:ext>
            </a:extLst>
          </p:cNvPr>
          <p:cNvSpPr>
            <a:spLocks noGrp="1"/>
          </p:cNvSpPr>
          <p:nvPr/>
        </p:nvSpPr>
        <p:spPr>
          <a:xfrm>
            <a:off x="7715250" y="2571750"/>
            <a:ext cx="3429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1200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200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3635F"/>
                </a:solidFill>
                <a:latin typeface="Aptos"/>
                <a:ea typeface="Aptos"/>
                <a:cs typeface="Aptos"/>
              </a:rPr>
              <a:t>Assigned to BurnIMJerome. Maps to the Agent MVP1 publish, versioning and rollback requirement.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D18A88-85A8-4507-903C-1ED400EDCDA3}"/>
              </a:ext>
            </a:extLst>
          </p:cNvPr>
          <p:cNvSpPr>
            <a:spLocks noGrp="1"/>
          </p:cNvSpPr>
          <p:nvPr/>
        </p:nvSpPr>
        <p:spPr>
          <a:xfrm>
            <a:off x="7715250" y="363855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444"/>
          </a:bodyPr>
          <a:lstStyle>
            <a:defPPr algn="l">
              <a:defRPr sz="1350" b="1">
                <a:solidFill>
                  <a:srgbClr val="C23B32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350" b="1">
                <a:solidFill>
                  <a:srgbClr val="C23B3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23B32"/>
                </a:solidFill>
                <a:latin typeface="Aptos"/>
                <a:ea typeface="Aptos"/>
                <a:cs typeface="Aptos"/>
              </a:rPr>
              <a:t>Pipeline gap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A80D362-6A98-4E4B-99FB-452BC7AFCA2B}"/>
              </a:ext>
            </a:extLst>
          </p:cNvPr>
          <p:cNvSpPr>
            <a:spLocks noGrp="1"/>
          </p:cNvSpPr>
          <p:nvPr/>
        </p:nvSpPr>
        <p:spPr>
          <a:xfrm>
            <a:off x="7715250" y="4019550"/>
            <a:ext cx="3333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1875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875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231F"/>
                </a:solidFill>
                <a:latin typeface="Aptos"/>
                <a:ea typeface="Aptos"/>
                <a:cs typeface="Aptos"/>
              </a:rPr>
              <a:t>No MVP1 item is in development, review or QA.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4655CB2-55F4-441B-9274-B2A63DD9383C}"/>
              </a:ext>
            </a:extLst>
          </p:cNvPr>
          <p:cNvSpPr>
            <a:spLocks noGrp="1"/>
          </p:cNvSpPr>
          <p:nvPr/>
        </p:nvSpPr>
        <p:spPr>
          <a:xfrm>
            <a:off x="609600" y="6515100"/>
            <a:ext cx="10953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0000"/>
          </a:bodyPr>
          <a:lstStyle>
            <a:defPPr algn="l">
              <a:defRPr sz="750" b="0">
                <a:solidFill>
                  <a:srgbClr val="6D7B77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750" b="0">
                <a:solidFill>
                  <a:srgbClr val="6D7B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D7B77"/>
                </a:solidFill>
                <a:latin typeface="Aptos"/>
                <a:ea typeface="Aptos"/>
                <a:cs typeface="Aptos"/>
              </a:rPr>
              <a:t>Source: GitHub Project Dev View filtered by label:MVP1</a:t>
            </a:r>
          </a:p>
        </p:txBody>
      </p:sp>
    </p:spTree>
    <p:extLst>
      <p:ext uri="{BB962C8B-B14F-4D97-AF65-F5344CB8AC3E}">
        <p14:creationId xmlns:p14="http://schemas.microsoft.com/office/powerpoint/2010/main" val="15047889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8A47ADE-6C45-4672-8911-DD6D2AF88DD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8953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2400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2400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11231F"/>
                </a:solidFill>
                <a:latin typeface="Aptos"/>
                <a:ea typeface="Aptos"/>
                <a:cs typeface="Aptos"/>
              </a:rPr>
              <a:t>Main delivery risks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C5CB26-CB75-4DE3-8683-5B52ADD9EF6F}"/>
              </a:ext>
            </a:extLst>
          </p:cNvPr>
          <p:cNvSpPr>
            <a:spLocks noGrp="1"/>
          </p:cNvSpPr>
          <p:nvPr/>
        </p:nvSpPr>
        <p:spPr>
          <a:xfrm>
            <a:off x="609600" y="933450"/>
            <a:ext cx="990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1200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200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3635F"/>
                </a:solidFill>
                <a:latin typeface="Aptos"/>
                <a:ea typeface="Aptos"/>
                <a:cs typeface="Aptos"/>
              </a:rPr>
              <a:t>The schedule depends on immediate scope and workflow decisions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07DE4CD-6EA0-4E0E-A9A6-C67BC6DFB4FE}"/>
              </a:ext>
            </a:extLst>
          </p:cNvPr>
          <p:cNvSpPr>
            <a:spLocks noGrp="1"/>
          </p:cNvSpPr>
          <p:nvPr/>
        </p:nvSpPr>
        <p:spPr>
          <a:xfrm>
            <a:off x="11049000" y="457200"/>
            <a:ext cx="5143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r">
              <a:defRPr sz="975" b="1">
                <a:solidFill>
                  <a:srgbClr val="006B63"/>
                </a:solidFill>
                <a:latin typeface="Aptos"/>
                <a:ea typeface="Aptos"/>
                <a:cs typeface="Aptos"/>
              </a:defRPr>
            </a:defPPr>
          </a:lstStyle>
          <a:p>
            <a:pPr algn="r">
              <a:defRPr sz="975" b="1">
                <a:solidFill>
                  <a:srgbClr val="006B6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06B63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CDBEED3-6A0E-43F0-8009-5EC410E71814}"/>
              </a:ext>
            </a:extLst>
          </p:cNvPr>
          <p:cNvSpPr>
            <a:spLocks noGrp="1"/>
          </p:cNvSpPr>
          <p:nvPr/>
        </p:nvSpPr>
        <p:spPr>
          <a:xfrm>
            <a:off x="609600" y="1257300"/>
            <a:ext cx="10953750" cy="19050"/>
          </a:xfrm>
          <a:prstGeom prst="rect">
            <a:avLst/>
          </a:prstGeom>
          <a:solidFill>
            <a:srgbClr val="006B63"/>
          </a:solidFill>
          <a:ln w="9525">
            <a:solidFill>
              <a:srgbClr val="006B63"/>
            </a:solidFill>
            <a:prstDash val="solid"/>
          </a:ln>
        </p:spPr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9FF7113-3CEA-48CC-B7C4-E3D7DFC81FB5}"/>
              </a:ext>
            </a:extLst>
          </p:cNvPr>
          <p:cNvGraphicFramePr/>
          <p:nvPr/>
        </p:nvGraphicFramePr>
        <p:xfrm>
          <a:off x="609600" y="1600200"/>
          <a:ext cx="10953750" cy="4095750"/>
        </p:xfrm>
        <a:graphic>
          <a:graphicData uri="http://schemas.openxmlformats.org/drawingml/2006/table">
            <a:tbl>
              <a:tblPr/>
              <a:tblGrid>
                <a:gridCol w="314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86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5107">
                <a:tc>
                  <a:txBody>
                    <a:bodyPr/>
                    <a:lstStyle/>
                    <a:p>
                      <a:r>
                        <a:t>Risk</a:t>
                      </a:r>
                    </a:p>
                  </a:txBody>
                  <a:tcPr>
                    <a:lnL w="9525">
                      <a:solidFill>
                        <a:srgbClr val="CAD5D1"/>
                      </a:solidFill>
                      <a:prstDash val="soli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>
                      <a:solidFill>
                        <a:srgbClr val="CAD5D1"/>
                      </a:solidFill>
                      <a:prstDash val="soli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Severity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>
                      <a:solidFill>
                        <a:srgbClr val="CAD5D1"/>
                      </a:solidFill>
                      <a:prstDash val="soli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Evidence and impact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>
                      <a:solidFill>
                        <a:srgbClr val="CAD5D1"/>
                      </a:solidFill>
                      <a:prstDash val="soli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rPr b="1"/>
                        <a:t>Schedule-phase mismatch</a:t>
                      </a:r>
                    </a:p>
                  </a:txBody>
                  <a:tcPr>
                    <a:lnL w="9525">
                      <a:solidFill>
                        <a:srgbClr val="CAD5D1"/>
                      </a:solidFill>
                      <a:prstDash val="soli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C23B32"/>
                          </a:solidFill>
                          <a:latin typeface="Aptos"/>
                          <a:ea typeface="Aptos"/>
                          <a:cs typeface="Aptos"/>
                        </a:rPr>
                        <a:t>CRITICAL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  <a:solidFill>
                      <a:srgbClr val="FCE9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Testing has started on the plan; nearly all MVP1 work remains in Backlog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rPr b="1"/>
                        <a:t>Code-freeze feasibility</a:t>
                      </a:r>
                    </a:p>
                  </a:txBody>
                  <a:tcPr>
                    <a:lnL w="9525">
                      <a:solidFill>
                        <a:srgbClr val="CAD5D1"/>
                      </a:solidFill>
                      <a:prstDash val="soli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C23B32"/>
                          </a:solidFill>
                          <a:latin typeface="Aptos"/>
                          <a:ea typeface="Aptos"/>
                          <a:cs typeface="Aptos"/>
                        </a:rPr>
                        <a:t>CRITICAL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  <a:solidFill>
                      <a:srgbClr val="FCE9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85 MVP1 items are not Done with 18 days remaining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rPr b="1"/>
                        <a:t>Unclosed release scope</a:t>
                      </a:r>
                    </a:p>
                  </a:txBody>
                  <a:tcPr>
                    <a:lnL w="9525">
                      <a:solidFill>
                        <a:srgbClr val="CAD5D1"/>
                      </a:solidFill>
                      <a:prstDash val="soli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7A5200"/>
                          </a:solidFill>
                          <a:latin typeface="Aptos"/>
                          <a:ea typeface="Aptos"/>
                          <a:cs typeface="Aptos"/>
                        </a:rPr>
                        <a:t>HIGH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  <a:solidFill>
                      <a:srgbClr val="FFF3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Backlog definition and prioritization remain ongoing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rPr b="1"/>
                        <a:t>No QA flow</a:t>
                      </a:r>
                    </a:p>
                  </a:txBody>
                  <a:tcPr>
                    <a:lnL w="9525">
                      <a:solidFill>
                        <a:srgbClr val="CAD5D1"/>
                      </a:solidFill>
                      <a:prstDash val="soli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7A5200"/>
                          </a:solidFill>
                          <a:latin typeface="Aptos"/>
                          <a:ea typeface="Aptos"/>
                          <a:cs typeface="Aptos"/>
                        </a:rPr>
                        <a:t>HIGH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  <a:solidFill>
                      <a:srgbClr val="FFF3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Review and QA both contain zero items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rPr b="1"/>
                        <a:t>Completion evidence gaps</a:t>
                      </a:r>
                    </a:p>
                  </a:txBody>
                  <a:tcPr>
                    <a:lnL w="9525">
                      <a:solidFill>
                        <a:srgbClr val="CAD5D1"/>
                      </a:solidFill>
                      <a:prstDash val="soli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7A5200"/>
                          </a:solidFill>
                          <a:latin typeface="Aptos"/>
                          <a:ea typeface="Aptos"/>
                          <a:cs typeface="Aptos"/>
                        </a:rPr>
                        <a:t>HIGH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  <a:solidFill>
                      <a:srgbClr val="FFF3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Several planned capabilities have no verified completion status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r>
                        <a:rPr b="1"/>
                        <a:t>Weak effort forecasting</a:t>
                      </a:r>
                    </a:p>
                  </a:txBody>
                  <a:tcPr>
                    <a:lnL w="9525">
                      <a:solidFill>
                        <a:srgbClr val="CAD5D1"/>
                      </a:solidFill>
                      <a:prstDash val="soli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b="1"/>
                        <a:t>MEDIUM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  <a:solidFill>
                      <a:srgbClr val="EEF2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No visible estimates or target dates on board items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CA743AFA-C7C3-4D59-8E4D-7269688E5A3A}"/>
              </a:ext>
            </a:extLst>
          </p:cNvPr>
          <p:cNvSpPr>
            <a:spLocks noGrp="1"/>
          </p:cNvSpPr>
          <p:nvPr/>
        </p:nvSpPr>
        <p:spPr>
          <a:xfrm>
            <a:off x="609600" y="5905500"/>
            <a:ext cx="10668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1275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275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3635F"/>
                </a:solidFill>
                <a:latin typeface="Aptos"/>
                <a:ea typeface="Aptos"/>
                <a:cs typeface="Aptos"/>
              </a:rPr>
              <a:t>Item-count completion is directional. The board does not provide enough sizing data for an effort-weighted forecast.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48C2E29-6ECA-4D17-A8A2-6AF77E48B474}"/>
              </a:ext>
            </a:extLst>
          </p:cNvPr>
          <p:cNvSpPr>
            <a:spLocks noGrp="1"/>
          </p:cNvSpPr>
          <p:nvPr/>
        </p:nvSpPr>
        <p:spPr>
          <a:xfrm>
            <a:off x="609600" y="6515100"/>
            <a:ext cx="10953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0000"/>
          </a:bodyPr>
          <a:lstStyle>
            <a:defPPr algn="l">
              <a:defRPr sz="750" b="0">
                <a:solidFill>
                  <a:srgbClr val="6D7B77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750" b="0">
                <a:solidFill>
                  <a:srgbClr val="6D7B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D7B77"/>
                </a:solidFill>
                <a:latin typeface="Aptos"/>
                <a:ea typeface="Aptos"/>
                <a:cs typeface="Aptos"/>
              </a:rPr>
              <a:t>Sources: GitHub Project status counts and Timeline exit criteria</a:t>
            </a:r>
          </a:p>
        </p:txBody>
      </p:sp>
    </p:spTree>
    <p:extLst>
      <p:ext uri="{BB962C8B-B14F-4D97-AF65-F5344CB8AC3E}">
        <p14:creationId xmlns:p14="http://schemas.microsoft.com/office/powerpoint/2010/main" val="6551472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395A1CCF-93BD-4B48-AA03-3D1E4B1054F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8953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2400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2400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11231F"/>
                </a:solidFill>
                <a:latin typeface="Aptos"/>
                <a:ea typeface="Aptos"/>
                <a:cs typeface="Aptos"/>
              </a:rPr>
              <a:t>Recovery plan and decisions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6479AAF-ED1E-4646-8D90-526126ED70F5}"/>
              </a:ext>
            </a:extLst>
          </p:cNvPr>
          <p:cNvSpPr>
            <a:spLocks noGrp="1"/>
          </p:cNvSpPr>
          <p:nvPr/>
        </p:nvSpPr>
        <p:spPr>
          <a:xfrm>
            <a:off x="609600" y="933450"/>
            <a:ext cx="990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1200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200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3635F"/>
                </a:solidFill>
                <a:latin typeface="Aptos"/>
                <a:ea typeface="Aptos"/>
                <a:cs typeface="Aptos"/>
              </a:rPr>
              <a:t>A viable October code freeze requires a smaller release baseline and daily movement into QA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3803991-8E6B-43D7-B9BB-22887BB6585E}"/>
              </a:ext>
            </a:extLst>
          </p:cNvPr>
          <p:cNvSpPr>
            <a:spLocks noGrp="1"/>
          </p:cNvSpPr>
          <p:nvPr/>
        </p:nvSpPr>
        <p:spPr>
          <a:xfrm>
            <a:off x="11049000" y="457200"/>
            <a:ext cx="5143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r">
              <a:defRPr sz="975" b="1">
                <a:solidFill>
                  <a:srgbClr val="006B63"/>
                </a:solidFill>
                <a:latin typeface="Aptos"/>
                <a:ea typeface="Aptos"/>
                <a:cs typeface="Aptos"/>
              </a:defRPr>
            </a:defPPr>
          </a:lstStyle>
          <a:p>
            <a:pPr algn="r">
              <a:defRPr sz="975" b="1">
                <a:solidFill>
                  <a:srgbClr val="006B6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06B63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22A7A89-A379-4462-B383-0BD2E9C14009}"/>
              </a:ext>
            </a:extLst>
          </p:cNvPr>
          <p:cNvSpPr>
            <a:spLocks noGrp="1"/>
          </p:cNvSpPr>
          <p:nvPr/>
        </p:nvSpPr>
        <p:spPr>
          <a:xfrm>
            <a:off x="609600" y="1257300"/>
            <a:ext cx="10953750" cy="19050"/>
          </a:xfrm>
          <a:prstGeom prst="rect">
            <a:avLst/>
          </a:prstGeom>
          <a:solidFill>
            <a:srgbClr val="006B63"/>
          </a:solidFill>
          <a:ln w="9525">
            <a:solidFill>
              <a:srgbClr val="006B63"/>
            </a:solidFill>
            <a:prstDash val="solid"/>
          </a:ln>
        </p:spPr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B4D26DD-F7A6-4807-8B4E-9218F2C07620}"/>
              </a:ext>
            </a:extLst>
          </p:cNvPr>
          <p:cNvGraphicFramePr/>
          <p:nvPr/>
        </p:nvGraphicFramePr>
        <p:xfrm>
          <a:off x="609600" y="1581150"/>
          <a:ext cx="10953750" cy="2190750"/>
        </p:xfrm>
        <a:graphic>
          <a:graphicData uri="http://schemas.openxmlformats.org/drawingml/2006/table">
            <a:tbl>
              <a:tblPr/>
              <a:tblGrid>
                <a:gridCol w="1619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91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7688">
                <a:tc>
                  <a:txBody>
                    <a:bodyPr/>
                    <a:lstStyle/>
                    <a:p>
                      <a:r>
                        <a:t>Window</a:t>
                      </a:r>
                    </a:p>
                  </a:txBody>
                  <a:tcPr>
                    <a:lnL w="9525">
                      <a:solidFill>
                        <a:srgbClr val="CAD5D1"/>
                      </a:solidFill>
                      <a:prstDash val="soli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>
                      <a:solidFill>
                        <a:srgbClr val="CAD5D1"/>
                      </a:solidFill>
                      <a:prstDash val="soli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Recovery action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>
                      <a:solidFill>
                        <a:srgbClr val="CAD5D1"/>
                      </a:solidFill>
                      <a:prstDash val="soli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Required outcome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>
                      <a:solidFill>
                        <a:srgbClr val="CAD5D1"/>
                      </a:solidFill>
                      <a:prstDash val="soli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7688">
                <a:tc>
                  <a:txBody>
                    <a:bodyPr/>
                    <a:lstStyle/>
                    <a:p>
                      <a:r>
                        <a:rPr b="1"/>
                        <a:t>12–13 Oct</a:t>
                      </a:r>
                    </a:p>
                  </a:txBody>
                  <a:tcPr>
                    <a:lnL w="9525">
                      <a:solidFill>
                        <a:srgbClr val="CAD5D1"/>
                      </a:solidFill>
                      <a:prstDash val="soli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Freeze the October release baseline; assign owners, criteria and dates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 realistic MVP1 list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7688">
                <a:tc>
                  <a:txBody>
                    <a:bodyPr/>
                    <a:lstStyle/>
                    <a:p>
                      <a:r>
                        <a:rPr b="1"/>
                        <a:t>14–23 Oct</a:t>
                      </a:r>
                    </a:p>
                  </a:txBody>
                  <a:tcPr>
                    <a:lnL w="9525">
                      <a:solidFill>
                        <a:srgbClr val="CAD5D1"/>
                      </a:solidFill>
                      <a:prstDash val="soli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Move small testable batches through development, review and QA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Daily completed work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7688">
                <a:tc>
                  <a:txBody>
                    <a:bodyPr/>
                    <a:lstStyle/>
                    <a:p>
                      <a:r>
                        <a:rPr b="1"/>
                        <a:t>24–30 Oct</a:t>
                      </a:r>
                    </a:p>
                  </a:txBody>
                  <a:tcPr>
                    <a:lnL w="9525">
                      <a:solidFill>
                        <a:srgbClr val="CAD5D1"/>
                      </a:solidFill>
                      <a:prstDash val="soli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Stop nonessential features; run regression, smoke and acceptance checks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Evidence-based go / no-go</a:t>
                      </a:r>
                    </a:p>
                  </a:txBody>
                  <a:tcPr>
                    <a:lnL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AD5D1"/>
                      </a:solidFill>
                      <a:prstDash val="solid"/>
                    </a:lnR>
                    <a:lnT w="9525" cap="flat" cmpd="sng" algn="ctr">
                      <a:solidFill>
                        <a:srgbClr val="CAD5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AD5D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C9257A04-F998-4E55-A9BC-A3D43C7329B2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4762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611"/>
          </a:bodyPr>
          <a:lstStyle>
            <a:defPPr algn="l">
              <a:defRPr sz="1800" b="1">
                <a:solidFill>
                  <a:srgbClr val="006B63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800" b="1">
                <a:solidFill>
                  <a:srgbClr val="006B63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06B63"/>
                </a:solidFill>
                <a:latin typeface="Aptos"/>
                <a:ea typeface="Aptos"/>
                <a:cs typeface="Aptos"/>
              </a:rPr>
              <a:t>Management decisions required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96582A-1008-4D42-BB83-303A524557A9}"/>
              </a:ext>
            </a:extLst>
          </p:cNvPr>
          <p:cNvSpPr>
            <a:spLocks noGrp="1"/>
          </p:cNvSpPr>
          <p:nvPr/>
        </p:nvSpPr>
        <p:spPr>
          <a:xfrm>
            <a:off x="609600" y="46672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ctr">
              <a:defRPr sz="1875" b="1">
                <a:solidFill>
                  <a:srgbClr val="FFB21A"/>
                </a:solidFill>
                <a:latin typeface="Aptos"/>
                <a:ea typeface="Aptos"/>
                <a:cs typeface="Aptos"/>
              </a:defRPr>
            </a:defPPr>
          </a:lstStyle>
          <a:p>
            <a:pPr algn="ctr">
              <a:defRPr sz="1875" b="1">
                <a:solidFill>
                  <a:srgbClr val="FFB21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B21A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EBFAD57-CF95-400A-8C81-F1054AA8189D}"/>
              </a:ext>
            </a:extLst>
          </p:cNvPr>
          <p:cNvSpPr>
            <a:spLocks noGrp="1"/>
          </p:cNvSpPr>
          <p:nvPr/>
        </p:nvSpPr>
        <p:spPr>
          <a:xfrm>
            <a:off x="1143000" y="466725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196"/>
          </a:bodyPr>
          <a:lstStyle>
            <a:defPPr algn="l">
              <a:defRPr sz="1275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275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231F"/>
                </a:solidFill>
                <a:latin typeface="Aptos"/>
                <a:ea typeface="Aptos"/>
                <a:cs typeface="Aptos"/>
              </a:rPr>
              <a:t>Scope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35F8357-8459-4B8B-A6CA-2BFD2E51C023}"/>
              </a:ext>
            </a:extLst>
          </p:cNvPr>
          <p:cNvSpPr>
            <a:spLocks noGrp="1"/>
          </p:cNvSpPr>
          <p:nvPr/>
        </p:nvSpPr>
        <p:spPr>
          <a:xfrm>
            <a:off x="2419350" y="4667250"/>
            <a:ext cx="3333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1125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125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3635F"/>
                </a:solidFill>
                <a:latin typeface="Aptos"/>
                <a:ea typeface="Aptos"/>
                <a:cs typeface="Aptos"/>
              </a:rPr>
              <a:t>Which MVP1 items are mandatory for the release candidate?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525673-BCC4-4BF2-A08C-B2F7DED5F750}"/>
              </a:ext>
            </a:extLst>
          </p:cNvPr>
          <p:cNvSpPr>
            <a:spLocks noGrp="1"/>
          </p:cNvSpPr>
          <p:nvPr/>
        </p:nvSpPr>
        <p:spPr>
          <a:xfrm>
            <a:off x="6086475" y="46672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ctr">
              <a:defRPr sz="1875" b="1">
                <a:solidFill>
                  <a:srgbClr val="FFB21A"/>
                </a:solidFill>
                <a:latin typeface="Aptos"/>
                <a:ea typeface="Aptos"/>
                <a:cs typeface="Aptos"/>
              </a:defRPr>
            </a:defPPr>
          </a:lstStyle>
          <a:p>
            <a:pPr algn="ctr">
              <a:defRPr sz="1875" b="1">
                <a:solidFill>
                  <a:srgbClr val="FFB21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B21A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7854D9-A6ED-491C-A608-18B4E2B59B3A}"/>
              </a:ext>
            </a:extLst>
          </p:cNvPr>
          <p:cNvSpPr>
            <a:spLocks noGrp="1"/>
          </p:cNvSpPr>
          <p:nvPr/>
        </p:nvSpPr>
        <p:spPr>
          <a:xfrm>
            <a:off x="6619875" y="466725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196"/>
          </a:bodyPr>
          <a:lstStyle>
            <a:defPPr algn="l">
              <a:defRPr sz="1275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275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231F"/>
                </a:solidFill>
                <a:latin typeface="Aptos"/>
                <a:ea typeface="Aptos"/>
                <a:cs typeface="Aptos"/>
              </a:rPr>
              <a:t>Schedule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31C07A-90A4-4A32-B84D-2E765E255305}"/>
              </a:ext>
            </a:extLst>
          </p:cNvPr>
          <p:cNvSpPr>
            <a:spLocks noGrp="1"/>
          </p:cNvSpPr>
          <p:nvPr/>
        </p:nvSpPr>
        <p:spPr>
          <a:xfrm>
            <a:off x="7896225" y="4667250"/>
            <a:ext cx="3333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1125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125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3635F"/>
                </a:solidFill>
                <a:latin typeface="Aptos"/>
                <a:ea typeface="Aptos"/>
                <a:cs typeface="Aptos"/>
              </a:rPr>
              <a:t>Keep October 30 and reduce scope, or move the milestone dates?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B33A9C5-3DDC-4769-85D6-889D1C4128E2}"/>
              </a:ext>
            </a:extLst>
          </p:cNvPr>
          <p:cNvSpPr>
            <a:spLocks noGrp="1"/>
          </p:cNvSpPr>
          <p:nvPr/>
        </p:nvSpPr>
        <p:spPr>
          <a:xfrm>
            <a:off x="609600" y="544830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ctr">
              <a:defRPr sz="1875" b="1">
                <a:solidFill>
                  <a:srgbClr val="FFB21A"/>
                </a:solidFill>
                <a:latin typeface="Aptos"/>
                <a:ea typeface="Aptos"/>
                <a:cs typeface="Aptos"/>
              </a:defRPr>
            </a:defPPr>
          </a:lstStyle>
          <a:p>
            <a:pPr algn="ctr">
              <a:defRPr sz="1875" b="1">
                <a:solidFill>
                  <a:srgbClr val="FFB21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B21A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49B4F1F-7E2C-424D-89ED-D3C93AD56F90}"/>
              </a:ext>
            </a:extLst>
          </p:cNvPr>
          <p:cNvSpPr>
            <a:spLocks noGrp="1"/>
          </p:cNvSpPr>
          <p:nvPr/>
        </p:nvSpPr>
        <p:spPr>
          <a:xfrm>
            <a:off x="1143000" y="544830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196"/>
          </a:bodyPr>
          <a:lstStyle>
            <a:defPPr algn="l">
              <a:defRPr sz="1275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275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231F"/>
                </a:solidFill>
                <a:latin typeface="Aptos"/>
                <a:ea typeface="Aptos"/>
                <a:cs typeface="Aptos"/>
              </a:rPr>
              <a:t>Capacity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FA294B9-4BAD-472A-8B43-2D266AC63536}"/>
              </a:ext>
            </a:extLst>
          </p:cNvPr>
          <p:cNvSpPr>
            <a:spLocks noGrp="1"/>
          </p:cNvSpPr>
          <p:nvPr/>
        </p:nvSpPr>
        <p:spPr>
          <a:xfrm>
            <a:off x="2419350" y="5448300"/>
            <a:ext cx="3333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1125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125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3635F"/>
                </a:solidFill>
                <a:latin typeface="Aptos"/>
                <a:ea typeface="Aptos"/>
                <a:cs typeface="Aptos"/>
              </a:rPr>
              <a:t>Who owns development, review and QA for each workstream?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EF94C2-D454-4F84-9239-EB895CA3ED58}"/>
              </a:ext>
            </a:extLst>
          </p:cNvPr>
          <p:cNvSpPr>
            <a:spLocks noGrp="1"/>
          </p:cNvSpPr>
          <p:nvPr/>
        </p:nvSpPr>
        <p:spPr>
          <a:xfrm>
            <a:off x="6086475" y="544830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ctr">
              <a:defRPr sz="1875" b="1">
                <a:solidFill>
                  <a:srgbClr val="FFB21A"/>
                </a:solidFill>
                <a:latin typeface="Aptos"/>
                <a:ea typeface="Aptos"/>
                <a:cs typeface="Aptos"/>
              </a:defRPr>
            </a:defPPr>
          </a:lstStyle>
          <a:p>
            <a:pPr algn="ctr">
              <a:defRPr sz="1875" b="1">
                <a:solidFill>
                  <a:srgbClr val="FFB21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B21A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C261560-426E-492A-B7C2-BB2B513B85C3}"/>
              </a:ext>
            </a:extLst>
          </p:cNvPr>
          <p:cNvSpPr>
            <a:spLocks noGrp="1"/>
          </p:cNvSpPr>
          <p:nvPr/>
        </p:nvSpPr>
        <p:spPr>
          <a:xfrm>
            <a:off x="6619875" y="544830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196"/>
          </a:bodyPr>
          <a:lstStyle>
            <a:defPPr algn="l">
              <a:defRPr sz="1275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275" b="1">
                <a:solidFill>
                  <a:srgbClr val="1123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231F"/>
                </a:solidFill>
                <a:latin typeface="Aptos"/>
                <a:ea typeface="Aptos"/>
                <a:cs typeface="Aptos"/>
              </a:rPr>
              <a:t>Quality gate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5B4A82-8369-49B8-AF93-640EE42D4E39}"/>
              </a:ext>
            </a:extLst>
          </p:cNvPr>
          <p:cNvSpPr>
            <a:spLocks noGrp="1"/>
          </p:cNvSpPr>
          <p:nvPr/>
        </p:nvSpPr>
        <p:spPr>
          <a:xfrm>
            <a:off x="7896225" y="5448300"/>
            <a:ext cx="3333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sz="1125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1125" b="0">
                <a:solidFill>
                  <a:srgbClr val="53635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3635F"/>
                </a:solidFill>
                <a:latin typeface="Aptos"/>
                <a:ea typeface="Aptos"/>
                <a:cs typeface="Aptos"/>
              </a:rPr>
              <a:t>What test evidence and defect threshold permit beta entry?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1F9D57C-4709-42C7-98E7-578E05E73A7A}"/>
              </a:ext>
            </a:extLst>
          </p:cNvPr>
          <p:cNvSpPr>
            <a:spLocks noGrp="1"/>
          </p:cNvSpPr>
          <p:nvPr/>
        </p:nvSpPr>
        <p:spPr>
          <a:xfrm>
            <a:off x="609600" y="6515100"/>
            <a:ext cx="10953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0000"/>
          </a:bodyPr>
          <a:lstStyle>
            <a:defPPr algn="l">
              <a:defRPr sz="750" b="0">
                <a:solidFill>
                  <a:srgbClr val="6D7B77"/>
                </a:solidFill>
                <a:latin typeface="Aptos"/>
                <a:ea typeface="Aptos"/>
                <a:cs typeface="Aptos"/>
              </a:defRPr>
            </a:defPPr>
          </a:lstStyle>
          <a:p>
            <a:pPr algn="l">
              <a:defRPr sz="750" b="0">
                <a:solidFill>
                  <a:srgbClr val="6D7B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D7B77"/>
                </a:solidFill>
                <a:latin typeface="Aptos"/>
                <a:ea typeface="Aptos"/>
                <a:cs typeface="Aptos"/>
              </a:rPr>
              <a:t>Recommendation: revalidate the 30 Oct code-freeze commitment by 13 Oct 2026</a:t>
            </a:r>
          </a:p>
        </p:txBody>
      </p:sp>
    </p:spTree>
    <p:extLst>
      <p:ext uri="{BB962C8B-B14F-4D97-AF65-F5344CB8AC3E}">
        <p14:creationId xmlns:p14="http://schemas.microsoft.com/office/powerpoint/2010/main" val="175261265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979</Words>
  <Application>Microsoft Office PowerPoint</Application>
  <DocSecurity>0</DocSecurity>
  <PresentationFormat>Widescreen</PresentationFormat>
  <Paragraphs>176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0" baseType="lpstr">
      <vt:lpstr>Aptos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jerome ian villaroman</cp:lastModifiedBy>
  <cp:revision>1</cp:revision>
  <dcterms:created xsi:type="dcterms:W3CDTF">2026-10-12T03:28:31Z</dcterms:created>
  <dcterms:modified xsi:type="dcterms:W3CDTF">2026-10-12T15:34:28Z</dcterms:modified>
</cp:coreProperties>
</file>