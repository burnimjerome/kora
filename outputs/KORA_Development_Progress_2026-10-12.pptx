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f64d9528948ef" /><Relationship Type="http://schemas.openxmlformats.org/officeDocument/2006/relationships/extended-properties" Target="/docProps/app.xml" Id="R80954ccfca094e25" /><Relationship Type="http://schemas.openxmlformats.org/officeDocument/2006/relationships/officeDocument" Target="/ppt/presentation.xml" Id="Rdd43c5764a3244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89376d871f4664"/>
  </p:sldMasterIdLst>
  <p:notesMasterIdLst>
    <p:notesMasterId xmlns:r="http://schemas.openxmlformats.org/officeDocument/2006/relationships" r:id="R371f7826bbce45b1"/>
  </p:notesMasterIdLst>
  <p:sldIdLst>
    <p:sldId xmlns:r="http://schemas.openxmlformats.org/officeDocument/2006/relationships" id="256" r:id="Re7139fba02724824"/>
    <p:sldId xmlns:r="http://schemas.openxmlformats.org/officeDocument/2006/relationships" id="257" r:id="Ra78cb0d1ecda4b7c"/>
    <p:sldId xmlns:r="http://schemas.openxmlformats.org/officeDocument/2006/relationships" id="258" r:id="Rb0c065f3f01b4973"/>
    <p:sldId xmlns:r="http://schemas.openxmlformats.org/officeDocument/2006/relationships" id="259" r:id="Rb57079f3646742cc"/>
    <p:sldId xmlns:r="http://schemas.openxmlformats.org/officeDocument/2006/relationships" id="260" r:id="Raad03fedb6ac44e7"/>
    <p:sldId xmlns:r="http://schemas.openxmlformats.org/officeDocument/2006/relationships" id="261" r:id="Re37eff2dfd5040a8"/>
    <p:sldId xmlns:r="http://schemas.openxmlformats.org/officeDocument/2006/relationships" id="262" r:id="R954d567b1e3746b2"/>
    <p:sldId xmlns:r="http://schemas.openxmlformats.org/officeDocument/2006/relationships" id="263" r:id="R3cc954900bae40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292579379b40a1" /><Relationship Type="http://schemas.openxmlformats.org/officeDocument/2006/relationships/slideMaster" Target="/ppt/slideMasters/slideMaster1.xml" Id="Re689376d871f4664" /><Relationship Type="http://schemas.openxmlformats.org/officeDocument/2006/relationships/notesMaster" Target="/ppt/notesMasters/notesMaster1.xml" Id="R371f7826bbce45b1" /><Relationship Type="http://schemas.openxmlformats.org/officeDocument/2006/relationships/presProps" Target="/ppt/presProps.xml" Id="R0b9918d81e4c4424" /><Relationship Type="http://schemas.openxmlformats.org/officeDocument/2006/relationships/tableStyles" Target="/ppt/tableStyles.xml" Id="R25d3e7e4aa8f48e1" /><Relationship Type="http://schemas.openxmlformats.org/officeDocument/2006/relationships/slide" Target="/ppt/slides/slide1.xml" Id="Re7139fba02724824" /><Relationship Type="http://schemas.openxmlformats.org/officeDocument/2006/relationships/slide" Target="/ppt/slides/slide2.xml" Id="Ra78cb0d1ecda4b7c" /><Relationship Type="http://schemas.openxmlformats.org/officeDocument/2006/relationships/slide" Target="/ppt/slides/slide3.xml" Id="Rb0c065f3f01b4973" /><Relationship Type="http://schemas.openxmlformats.org/officeDocument/2006/relationships/slide" Target="/ppt/slides/slide4.xml" Id="Rb57079f3646742cc" /><Relationship Type="http://schemas.openxmlformats.org/officeDocument/2006/relationships/slide" Target="/ppt/slides/slide5.xml" Id="Raad03fedb6ac44e7" /><Relationship Type="http://schemas.openxmlformats.org/officeDocument/2006/relationships/slide" Target="/ppt/slides/slide6.xml" Id="Re37eff2dfd5040a8" /><Relationship Type="http://schemas.openxmlformats.org/officeDocument/2006/relationships/slide" Target="/ppt/slides/slide7.xml" Id="R954d567b1e3746b2" /><Relationship Type="http://schemas.openxmlformats.org/officeDocument/2006/relationships/slide" Target="/ppt/slides/slide8.xml" Id="R3cc954900bae40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477a7ae0a343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856a9841a94714" /><Relationship Type="http://schemas.openxmlformats.org/officeDocument/2006/relationships/notesMaster" Target="/ppt/notesMasters/notesMaster1.xml" Id="R4b3fb04ab40048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f457df412f48fa" /><Relationship Type="http://schemas.openxmlformats.org/officeDocument/2006/relationships/notesMaster" Target="/ppt/notesMasters/notesMaster1.xml" Id="Rf22423c589f840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425369b5534347" /><Relationship Type="http://schemas.openxmlformats.org/officeDocument/2006/relationships/notesMaster" Target="/ppt/notesMasters/notesMaster1.xml" Id="R9ef60a6b97f548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03ade269c44d86" /><Relationship Type="http://schemas.openxmlformats.org/officeDocument/2006/relationships/notesMaster" Target="/ppt/notesMasters/notesMaster1.xml" Id="R8d73e4a1237741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aac82b6cfe4098" /><Relationship Type="http://schemas.openxmlformats.org/officeDocument/2006/relationships/notesMaster" Target="/ppt/notesMasters/notesMaster1.xml" Id="R3ee952900c1c47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2893126aca4f9a" /><Relationship Type="http://schemas.openxmlformats.org/officeDocument/2006/relationships/notesMaster" Target="/ppt/notesMasters/notesMaster1.xml" Id="R1f8256fd45e44c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a9a34ade8b41d2" /><Relationship Type="http://schemas.openxmlformats.org/officeDocument/2006/relationships/notesMaster" Target="/ppt/notesMasters/notesMaster1.xml" Id="R4bace28a939d48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488c98a5ec4c5c" /><Relationship Type="http://schemas.openxmlformats.org/officeDocument/2006/relationships/notesMaster" Target="/ppt/notesMasters/notesMaster1.xml" Id="R214b0cde2ccb4d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https://github.com/users/BurnIMJerome/projects/2</a:t>
            </a:r>
          </a:p>
          <a:p xmlns:a="http://schemas.openxmlformats.org/drawingml/2006/main">
            <a:r>
              <a:t>C:\Users\My PC\Downloads\Kora_Likha Product.xlsx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Project counts observed 12 Oct 2026.</a:t>
            </a:r>
          </a:p>
          <a:p xmlns:a="http://schemas.openxmlformats.org/drawingml/2006/main">
            <a:r>
              <a:t>Timeline source: Kora_Likha Product.xlsx, Timeline!B3:R47.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board: Backlog 345, Ready 1, In Progress 1, Review 0, QA 0, Done 22, Failed 0.</a:t>
            </a:r>
          </a:p>
          <a:p xmlns:a="http://schemas.openxmlformats.org/drawingml/2006/main">
            <a:r>
              <a:t>MVP1: Backlog 84, Ready 1, In Progress 0, Review 0, QA 0, Done 6, Failed 0.</a:t>
            </a:r>
          </a:p>
          <a:p xmlns:a="http://schemas.openxmlformats.org/drawingml/2006/main">
            <a:r>
              <a:t>Source: https://github.com/users/BurnIMJerome/projects/2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Kora_Likha Product.xlsx, Timeline!B3:R47.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GitHub Project Done column reviewed 12 Oct 2026.</a:t>
            </a:r>
          </a:p>
          <a:p xmlns:a="http://schemas.openxmlformats.org/drawingml/2006/main">
            <a:r>
              <a:t>Image: repository file docs/images/process-designer.png.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https://github.com/users/BurnIMJerome/projects/2/views/1?filterQuery=label%3AMVP1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GitHub Project reviewed 12 Oct 2026; Kora_Likha Product.xlsx, Timeline!B37:I47.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actions derived from the report's schedule, pipeline and exit-criteria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fbb377fa548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bfc0e9c6b4c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2bbe5bf2c48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0f6151c934c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872e508db4f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48c978b1a45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99820E-4A40-445E-9467-96D83FB64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367578-F825-49AF-A138-5655CF2AAF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238C49-A623-477B-9BDF-AC2606063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D83EC6-53F4-4478-9850-6AB507DB1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D74307-AEBC-4589-A6F8-0ABC7D6F9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E564DF-53FE-4334-BDF4-EC64181207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FFBD78-E4C0-477C-9ECA-81D3720328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66E1FC-489E-4C75-8B88-40ED588933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BEE985-F766-4E93-B1BE-108DBF9F4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810252-629E-404C-BE56-812C7E8D43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79a545c3a469a" /><Relationship Type="http://schemas.openxmlformats.org/officeDocument/2006/relationships/slideLayout" Target="/ppt/slideLayouts/slideLayout1.xml" Id="R109b99b0030145c6" /><Relationship Type="http://schemas.openxmlformats.org/officeDocument/2006/relationships/slideLayout" Target="/ppt/slideLayouts/slideLayout2.xml" Id="R156bbb7f4cc94248" /><Relationship Type="http://schemas.openxmlformats.org/officeDocument/2006/relationships/slideLayout" Target="/ppt/slideLayouts/slideLayout3.xml" Id="R8f2e52c17c164874" /><Relationship Type="http://schemas.openxmlformats.org/officeDocument/2006/relationships/slideLayout" Target="/ppt/slideLayouts/slideLayout4.xml" Id="Rc98d1d5865ae448a" /><Relationship Type="http://schemas.openxmlformats.org/officeDocument/2006/relationships/slideLayout" Target="/ppt/slideLayouts/slideLayout5.xml" Id="Rbd14d1a6405c4c97" /><Relationship Type="http://schemas.openxmlformats.org/officeDocument/2006/relationships/slideLayout" Target="/ppt/slideLayouts/slideLayout6.xml" Id="R128934d362244f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9b99b0030145c6"/>
    <p:sldLayoutId xmlns:r="http://schemas.openxmlformats.org/officeDocument/2006/relationships" id="2147483650" r:id="R156bbb7f4cc94248"/>
    <p:sldLayoutId xmlns:r="http://schemas.openxmlformats.org/officeDocument/2006/relationships" id="2147483651" r:id="R8f2e52c17c164874"/>
    <p:sldLayoutId xmlns:r="http://schemas.openxmlformats.org/officeDocument/2006/relationships" id="2147483652" r:id="Rc98d1d5865ae448a"/>
    <p:sldLayoutId xmlns:r="http://schemas.openxmlformats.org/officeDocument/2006/relationships" id="2147483653" r:id="Rbd14d1a6405c4c97"/>
    <p:sldLayoutId xmlns:r="http://schemas.openxmlformats.org/officeDocument/2006/relationships" id="2147483654" r:id="R128934d362244f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bb0c3f3b24197" /><Relationship Type="http://schemas.openxmlformats.org/officeDocument/2006/relationships/image" Target="/ppt/media/image.png" Id="R8f3e335721a0453d" /><Relationship Type="http://schemas.openxmlformats.org/officeDocument/2006/relationships/notesSlide" Target="/ppt/notesSlides/notesSlide1.xml" Id="R00a2be679b20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d2427e0c7400b" /><Relationship Type="http://schemas.openxmlformats.org/officeDocument/2006/relationships/notesSlide" Target="/ppt/notesSlides/notesSlide2.xml" Id="R5b54c75dc02c43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2d0f93c86f4772" /><Relationship Type="http://schemas.openxmlformats.org/officeDocument/2006/relationships/chart" Target="/ppt/slides/charts/chart1.xml" Id="Rb269e90038894356" /><Relationship Type="http://schemas.openxmlformats.org/officeDocument/2006/relationships/notesSlide" Target="/ppt/notesSlides/notesSlide3.xml" Id="R5b44320497804c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cd438565e4c6c" /><Relationship Type="http://schemas.openxmlformats.org/officeDocument/2006/relationships/notesSlide" Target="/ppt/notesSlides/notesSlide4.xml" Id="R8552cfb5bfa944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a0c9f38f144cc" /><Relationship Type="http://schemas.openxmlformats.org/officeDocument/2006/relationships/image" Target="/ppt/media/image2.png" Id="R7fbe10950ca341d2" /><Relationship Type="http://schemas.openxmlformats.org/officeDocument/2006/relationships/notesSlide" Target="/ppt/notesSlides/notesSlide5.xml" Id="R554f91df5d7b4c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bd86e76634fe0" /><Relationship Type="http://schemas.openxmlformats.org/officeDocument/2006/relationships/chart" Target="/ppt/slides/charts/chart2.xml" Id="R0705d72e82c44870" /><Relationship Type="http://schemas.openxmlformats.org/officeDocument/2006/relationships/notesSlide" Target="/ppt/notesSlides/notesSlide6.xml" Id="R1695b44f2e1444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01f95b25247c3" /><Relationship Type="http://schemas.openxmlformats.org/officeDocument/2006/relationships/notesSlide" Target="/ppt/notesSlides/notesSlide7.xml" Id="R6c89b9ebf5da43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bd025abc04cbd" /><Relationship Type="http://schemas.openxmlformats.org/officeDocument/2006/relationships/notesSlide" Target="/ppt/notesSlides/notesSlide8.xml" Id="Rb6b76fc770614c0b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231F"/>
                </a:solidFill>
              </a:rPr>
              <a:t>Share of items by status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231F"/>
              </a:solidFill>
            </a:defRPr>
          </a:pPr>
        </a:p>
      </c:txPr>
    </c:title>
    <c:plotArea>
      <c:barChart>
        <c:barDir val="bar"/>
        <c:grouping val="percentStacked"/>
        <c:varyColors val="0"/>
        <c:ser>
          <c:idx val="0"/>
          <c:order val="0"/>
          <c:tx>
            <c:v>Done</c:v>
          </c:tx>
          <c:spPr>
            <a:solidFill xmlns:a="http://schemas.openxmlformats.org/drawingml/2006/main">
              <a:srgbClr val="006B63"/>
            </a:solidFill>
          </c:spPr>
          <c:invertIfNegative val="0"/>
          <c:cat>
            <c:strLit>
              <c:ptCount val="2"/>
              <c:pt idx="0">
                <c:v>Full board</c:v>
              </c:pt>
              <c:pt idx="1">
                <c:v>MVP1</c:v>
              </c:pt>
            </c:strLit>
          </c:cat>
          <c:val>
            <c:numLit>
              <c:formatCode>General</c:formatCode>
              <c:ptCount val="2"/>
              <c:pt idx="0">
                <c:v>0.05962059620596206</c:v>
              </c:pt>
              <c:pt idx="1">
                <c:v>0.06593406593406594</c:v>
              </c:pt>
            </c:numLit>
          </c:val>
        </c:ser>
        <c:ser>
          <c:idx val="1"/>
          <c:order val="1"/>
          <c:tx>
            <c:v>Active / ready</c:v>
          </c:tx>
          <c:spPr>
            <a:solidFill xmlns:a="http://schemas.openxmlformats.org/drawingml/2006/main">
              <a:srgbClr val="FFB21A"/>
            </a:solidFill>
          </c:spPr>
          <c:invertIfNegative val="0"/>
          <c:cat>
            <c:strLit>
              <c:ptCount val="2"/>
              <c:pt idx="0">
                <c:v>Full board</c:v>
              </c:pt>
              <c:pt idx="1">
                <c:v>MVP1</c:v>
              </c:pt>
            </c:strLit>
          </c:cat>
          <c:val>
            <c:numLit>
              <c:formatCode>General</c:formatCode>
              <c:ptCount val="2"/>
              <c:pt idx="0">
                <c:v>0.005420054200542005</c:v>
              </c:pt>
              <c:pt idx="1">
                <c:v>0.01098901098901099</c:v>
              </c:pt>
            </c:numLit>
          </c:val>
        </c:ser>
        <c:ser>
          <c:idx val="2"/>
          <c:order val="2"/>
          <c:tx>
            <c:v>Backlog</c:v>
          </c:tx>
          <c:spPr>
            <a:solidFill xmlns:a="http://schemas.openxmlformats.org/drawingml/2006/main">
              <a:srgbClr val="D9E1DE"/>
            </a:solidFill>
          </c:spPr>
          <c:invertIfNegative val="0"/>
          <c:cat>
            <c:strLit>
              <c:ptCount val="2"/>
              <c:pt idx="0">
                <c:v>Full board</c:v>
              </c:pt>
              <c:pt idx="1">
                <c:v>MVP1</c:v>
              </c:pt>
            </c:strLit>
          </c:cat>
          <c:val>
            <c:numLit>
              <c:formatCode>General</c:formatCode>
              <c:ptCount val="2"/>
              <c:pt idx="0">
                <c:v>0.9349593495934959</c:v>
              </c:pt>
              <c:pt idx="1">
                <c:v>0.9230769230769231</c:v>
              </c:pt>
            </c:numLit>
          </c:val>
        </c:ser>
        <c:gapWidth val="5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231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3635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231F"/>
                </a:solidFill>
              </a:rPr>
              <a:t>MVP1 items by board status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231F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MVP1 items</c:v>
          </c:tx>
          <c:spPr>
            <a:solidFill xmlns:a="http://schemas.openxmlformats.org/drawingml/2006/main">
              <a:srgbClr val="006B63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D9E1D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B21A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006B63"/>
              </a:solidFill>
            </c:spPr>
          </c:dPt>
          <c:cat>
            <c:strLit>
              <c:ptCount val="6"/>
              <c:pt idx="0">
                <c:v>Backlog</c:v>
              </c:pt>
              <c:pt idx="1">
                <c:v>Ready</c:v>
              </c:pt>
              <c:pt idx="2">
                <c:v>In Progress</c:v>
              </c:pt>
              <c:pt idx="3">
                <c:v>Review</c:v>
              </c:pt>
              <c:pt idx="4">
                <c:v>QA</c:v>
              </c:pt>
              <c:pt idx="5">
                <c:v>Done</c:v>
              </c:pt>
            </c:strLit>
          </c:cat>
          <c:val>
            <c:numLit>
              <c:formatCode>General</c:formatCode>
              <c:ptCount val="6"/>
              <c:pt idx="0">
                <c:v>84</c:v>
              </c:pt>
              <c:pt idx="1">
                <c:v>1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35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31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2AAE3-E31D-43D2-A85A-98960C9C3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e335721a0453d"/>
          <a:stretch xmlns:a="http://schemas.openxmlformats.org/drawingml/2006/main"/>
        </p:blipFill>
        <p:spPr>
          <a:xfrm xmlns:a="http://schemas.openxmlformats.org/drawingml/2006/main">
            <a:off x="7810500" y="8763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BDD86-603B-4F93-A074-F908754E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B21A"/>
                </a:solidFill>
                <a:latin typeface="Aptos"/>
                <a:ea typeface="Aptos"/>
                <a:cs typeface="Aptos"/>
              </a:rPr>
              <a:t>KORA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CFCB4-158B-450B-ACD1-12622F42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477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Development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progress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BB620-7398-482F-8B91-AF682026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9E7E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9E7E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7E3"/>
                </a:solidFill>
                <a:latin typeface="Aptos"/>
                <a:ea typeface="Aptos"/>
                <a:cs typeface="Aptos"/>
              </a:rPr>
              <a:t>Milestone alignment, delivery status, risks and recovery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35AC1-4C5B-411E-BBC6-D014D9DC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21A"/>
          </a:solidFill>
          <a:ln xmlns:a="http://schemas.openxmlformats.org/drawingml/2006/main" w="9525">
            <a:solidFill>
              <a:srgbClr val="FFB2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CFA3E-D02F-4272-ADE1-E3C2834F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Reporting date  |  12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CD463-F7BA-4543-8D00-3D619804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BB0A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BB0A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B0A9"/>
                </a:solidFill>
                <a:latin typeface="Aptos"/>
                <a:ea typeface="Aptos"/>
                <a:cs typeface="Aptos"/>
              </a:rPr>
              <a:t>Prepared from the GitHub project and Kora_Likha Product.xlsx</a:t>
            </a:r>
          </a:p>
        </p:txBody>
      </p:sp>
    </p:spTree>
    <p:extLst>
      <p:ext uri="{BB962C8B-B14F-4D97-AF65-F5344CB8AC3E}">
        <p14:creationId xmlns:p14="http://schemas.microsoft.com/office/powerpoint/2010/main" val="2648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41240-697B-4717-B80E-B464727A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Executive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1FD7C-2589-46D3-833F-84C2AB9B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The delivery pipeline does not match the planned phase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65F3B-66BD-45F4-8472-1003F7FA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2BBE8-CE96-4C74-92FE-55FA1F49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3"/>
          </a:solidFill>
          <a:ln xmlns:a="http://schemas.openxmlformats.org/drawingml/2006/main" w="9525">
            <a:solidFill>
              <a:srgbClr val="006B6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F89A9-3746-425C-9AF8-3B0CC52E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571750" cy="3905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9525">
            <a:solidFill>
              <a:srgbClr val="FC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1A64D-9C4D-46C2-BAF7-9FE5995F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900" b="1">
                <a:solidFill>
                  <a:srgbClr val="C23B3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C23B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C23B32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12089-D81E-4F8A-BFF9-7930CEAF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Behind the planned</a:t>
            </a:r>
          </a:p>
          <a:p xmlns:a="http://schemas.openxmlformats.org/drawingml/2006/main">
            <a:pPr algn="ctr">
              <a:defRPr sz="165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milestone sequence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C6625-FF7E-4009-987D-608CE38A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Testing &amp; Stabilization starts today, but no work is in Review or QA.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E869E-C009-4F34-BDF3-8D2896C3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22 / 369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19D0B-F7AD-4277-AE92-F371433F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Full board Done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D7A98-E81F-4F3C-83C4-179B5F22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6.0%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69D7E-B2D6-4EAD-A325-D348069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6 / 91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8F169-F562-40AB-9829-0191FC5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MVP1 Done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76C35-4221-4FD1-A3C9-0F0F1A6A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6.6%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FA355-16DB-4329-A683-EE4DB062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C23B3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C23B3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23B32"/>
                </a:solidFill>
                <a:latin typeface="Aptos"/>
                <a:ea typeface="Aptos"/>
                <a:cs typeface="Aptos"/>
              </a:rPr>
              <a:t>18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55E44-4FD4-4285-A032-BF1E2552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Until code freeze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09217-3DCC-4666-A6BF-ADECE020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30 Oct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D75F4-B5FE-4669-BE54-7C0951BE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Management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5EEF3-0DB2-4041-85F3-7F5704D2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Reduce and freeze the MVP1 release scope now, or formally move the code-freeze and launch dates.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B7891-5B23-4958-8282-C68A37EC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7B77"/>
                </a:solidFill>
                <a:latin typeface="Aptos"/>
                <a:ea typeface="Aptos"/>
                <a:cs typeface="Aptos"/>
              </a:rPr>
              <a:t>Source: GitHub Project Dev View and Timeline worksheet, reviewed 12 Oct 2026</a:t>
            </a:r>
          </a:p>
        </p:txBody>
      </p:sp>
    </p:spTree>
    <p:extLst>
      <p:ext uri="{BB962C8B-B14F-4D97-AF65-F5344CB8AC3E}">
        <p14:creationId xmlns:p14="http://schemas.microsoft.com/office/powerpoint/2010/main" val="447064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B3E69-6FA5-448A-9D38-6FCE25DB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Delivery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0E5AE-4CAA-4F4D-9502-41E0C5DD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Status counts show limited movement into active delivery and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FE7D8-634A-4FF4-92E7-04C1967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1637B-F804-470A-A0CA-1B9A4FA1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3"/>
          </a:solidFill>
          <a:ln xmlns:a="http://schemas.openxmlformats.org/drawingml/2006/main" w="9525">
            <a:solidFill>
              <a:srgbClr val="006B63"/>
            </a:solidFill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F9FB904-F992-4F5C-A62A-CE0CBD832F31}"/>
              </a:ext>
            </a:extLst>
          </p:cNvPr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7524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69e9003889435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F46DE-F78C-4B9B-9939-0B8ADD68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57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Board counts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87FF0-FBFF-4C7A-A2BD-D2AA7B6F52F8}"/>
              </a:ext>
            </a:extLst>
          </p:cNvPr>
          <p:cNvGraphicFramePr/>
          <p:nvPr/>
        </p:nvGraphicFramePr>
        <p:xfrm>
          <a:off xmlns:a="http://schemas.openxmlformats.org/drawingml/2006/main" x="8382000" y="2076450"/>
          <a:ext xmlns:a="http://schemas.openxmlformats.org/drawingml/2006/main" cx="3048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762000"/>
                <a:gridCol w="904875"/>
              </a:tblGrid>
              <a:tr h="40821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Full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MVP1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b="1"/>
                        <a:t>Done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E8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b="1"/>
                        <a:t>In Progress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b="1"/>
                        <a:t>Ready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b="1"/>
                        <a:t>Review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b="1"/>
                        <a:t>QA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b="1"/>
                        <a:t>Backlog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C8F1B-F1CC-4D5A-8089-31863720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Completion is a card-count measure. Items have no visible effort estimates, so it does not represent weighted engineering effort.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D4070-9D63-4309-BD9C-46F9823E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7B77"/>
                </a:solidFill>
                <a:latin typeface="Aptos"/>
                <a:ea typeface="Aptos"/>
                <a:cs typeface="Aptos"/>
              </a:rPr>
              <a:t>Source: GitHub Project Dev View; MVP1 filter returned 91 matching items</a:t>
            </a:r>
          </a:p>
        </p:txBody>
      </p:sp>
    </p:spTree>
    <p:extLst>
      <p:ext uri="{BB962C8B-B14F-4D97-AF65-F5344CB8AC3E}">
        <p14:creationId xmlns:p14="http://schemas.microsoft.com/office/powerpoint/2010/main" val="792147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01CA9-CD9F-412B-A1B0-245D4E4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Progress against the planned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70BDB-0069-4649-A411-D2A3B84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The plan has entered testing while most release work remains in 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08E1A-B265-4233-BC16-9E30944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FE9E8-CAB7-47AB-B00D-D94EA47E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3"/>
          </a:solidFill>
          <a:ln xmlns:a="http://schemas.openxmlformats.org/drawingml/2006/main" w="9525">
            <a:solidFill>
              <a:srgbClr val="006B63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D3FDA-2FBD-4338-943F-FD8505E9541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571625"/>
                <a:gridCol w="5286375"/>
                <a:gridCol w="1809750"/>
              </a:tblGrid>
              <a:tr h="57150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Planned date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Current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Assessment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b="1"/>
                        <a:t>Scope alignment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17–25 Sep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Backlog definition and prioritization still ongoing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AMBER / RED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FF3D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b="1"/>
                        <a:t>Product development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 Sep–9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 Done overall; 6 Done in MVP1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23B32"/>
                          </a:solidFill>
                          <a:latin typeface="Aptos"/>
                          <a:ea typeface="Aptos"/>
                          <a:cs typeface="Aptos"/>
                        </a:rPr>
                        <a:t>RED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CE9E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b="1"/>
                        <a:t>Testing &amp; stabilization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12–30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 in Review and 0 in QA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23B32"/>
                          </a:solidFill>
                          <a:latin typeface="Aptos"/>
                          <a:ea typeface="Aptos"/>
                          <a:cs typeface="Aptos"/>
                        </a:rPr>
                        <a:t>RED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CE9E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b="1"/>
                        <a:t>Code freeze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 days remain; gates not evidenced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7A5200"/>
                          </a:solidFill>
                          <a:latin typeface="Aptos"/>
                          <a:ea typeface="Aptos"/>
                          <a:cs typeface="Aptos"/>
                        </a:rPr>
                        <a:t>AT RISK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FF3D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b="1"/>
                        <a:t>Beta testing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 Oct–30 Nov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Depends on a stable release candidate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7A5200"/>
                          </a:solidFill>
                          <a:latin typeface="Aptos"/>
                          <a:ea typeface="Aptos"/>
                          <a:cs typeface="Aptos"/>
                        </a:rPr>
                        <a:t>AT RISK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FF3D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b="1"/>
                        <a:t>Launch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 Dec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Depends on recovery in October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7A5200"/>
                          </a:solidFill>
                          <a:latin typeface="Aptos"/>
                          <a:ea typeface="Aptos"/>
                          <a:cs typeface="Aptos"/>
                        </a:rPr>
                        <a:t>AT RISK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FF3D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64F53-7698-4CF4-BF0B-1C64C06F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The workbook's development exit criteria require complete agreed development, peer review, merged PRs, no critical blockers and testable builds.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BD310-B9AE-4B25-8C62-DDB06D3C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7B77"/>
                </a:solidFill>
                <a:latin typeface="Aptos"/>
                <a:ea typeface="Aptos"/>
                <a:cs typeface="Aptos"/>
              </a:rPr>
              <a:t>Source: Kora_Likha Product.xlsx, Timeline worksheet</a:t>
            </a:r>
          </a:p>
        </p:txBody>
      </p:sp>
    </p:spTree>
    <p:extLst>
      <p:ext uri="{BB962C8B-B14F-4D97-AF65-F5344CB8AC3E}">
        <p14:creationId xmlns:p14="http://schemas.microsoft.com/office/powerpoint/2010/main" val="495670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B6B2F-8038-457C-89AF-23CF50A7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Delivered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80EDC-EF0C-42BC-9F08-8399DC99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The Done column shows useful foundations across Flow, activities, application UI and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302EC-9B22-40DC-BA2E-530B1398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DD58E-87FF-470F-89ED-A1723964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3"/>
          </a:solidFill>
          <a:ln xmlns:a="http://schemas.openxmlformats.org/drawingml/2006/main" w="9525">
            <a:solidFill>
              <a:srgbClr val="006B63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8ED80-C438-4CA4-BDAF-F87FCECD5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e10950ca341d2"/>
          <a:srcRect xmlns:a="http://schemas.openxmlformats.org/drawingml/2006/main" l="0" t="51" r="0" b="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695450"/>
            <a:ext cx="6048375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A7DA5-3E9F-464E-951D-CAF53336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22 items are Done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80C1-1601-48C0-9E9A-DF0E0091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Flow designer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361CA-F887-43DA-9D68-1AA5910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Precise card insertion, keyboard shortcuts, comment and uncomment, Intellisense and modular activity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FADAC-7519-41E4-8B39-C28ADAEF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Programming and collections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2C89A-5B1D-46ED-8375-CACF4727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Create List, Update List Item, Read List Item, Matches, Output Data Table, Else If, Multiple Assign and related activities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A2E25-08EF-4BB6-B2DC-AB46422D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Application and agent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F4976-AB97-47CB-9FBB-A20A9885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Global Variables, Agent Home, Variable Panel improvements and product rebranding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1CA0C-7895-49B2-8D27-67CE998C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81600"/>
            <a:ext cx="604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>
            <a:defPPr algn="r">
              <a:defRPr sz="8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Product screenshot from the KORA documentation 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507E0-D730-41F8-8152-AF83B5A7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7B77"/>
                </a:solidFill>
                <a:latin typeface="Aptos"/>
                <a:ea typeface="Aptos"/>
                <a:cs typeface="Aptos"/>
              </a:rPr>
              <a:t>Source: GitHub Project Done column; KORA documentation assets</a:t>
            </a:r>
          </a:p>
        </p:txBody>
      </p:sp>
    </p:spTree>
    <p:extLst>
      <p:ext uri="{BB962C8B-B14F-4D97-AF65-F5344CB8AC3E}">
        <p14:creationId xmlns:p14="http://schemas.microsoft.com/office/powerpoint/2010/main" val="425927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54F31-658C-4BB6-BF99-9424EC6B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MVP1 delivery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BA68A-DA89-43F7-92AF-49C7D019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Most release-labelled work has not entered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1E813-CBAA-4CF6-A3B2-0C491A9A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447F2-DF01-4DBB-99D3-D6C181ED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3"/>
          </a:solidFill>
          <a:ln xmlns:a="http://schemas.openxmlformats.org/drawingml/2006/main" w="9525">
            <a:solidFill>
              <a:srgbClr val="006B63"/>
            </a:solidFill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246F4D1-A36A-4B3D-A0C8-51F62A02C7B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6477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05d72e82c4487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B7129-B69B-435B-B965-4F326AB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2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21A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1D274-FC71-4C77-AE14-6E7A443F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Agent Publish function  #352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97C9E-7EE9-4ED7-89D0-34FB4E7D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Assigned to BurnIMJerome. Maps to the Agent MVP1 publish, versioning and rollback requirement.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18A88-85A8-4507-903C-1ED400E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C23B3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23B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3B32"/>
                </a:solidFill>
                <a:latin typeface="Aptos"/>
                <a:ea typeface="Aptos"/>
                <a:cs typeface="Aptos"/>
              </a:rPr>
              <a:t>Pipeline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0D362-6A98-4E4B-99FB-452BC7AF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No MVP1 item is in development, review or QA.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55CB2-55F4-441B-9274-B2A63DD9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7B77"/>
                </a:solidFill>
                <a:latin typeface="Aptos"/>
                <a:ea typeface="Aptos"/>
                <a:cs typeface="Aptos"/>
              </a:rPr>
              <a:t>Source: GitHub Project Dev View filtered by label:MVP1</a:t>
            </a:r>
          </a:p>
        </p:txBody>
      </p:sp>
    </p:spTree>
    <p:extLst>
      <p:ext uri="{BB962C8B-B14F-4D97-AF65-F5344CB8AC3E}">
        <p14:creationId xmlns:p14="http://schemas.microsoft.com/office/powerpoint/2010/main" val="1504788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47ADE-6C45-4672-8911-DD6D2AF8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Main delivery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5CB26-CB75-4DE3-8683-5B52ADD9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The schedule depends on immediate scope and workflow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DE4CD-6EA0-4E0E-A9A6-C67BC6DF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BEED3-6A0E-43F0-8009-5EC410E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3"/>
          </a:solidFill>
          <a:ln xmlns:a="http://schemas.openxmlformats.org/drawingml/2006/main" w="9525">
            <a:solidFill>
              <a:srgbClr val="006B63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F7113-3CEA-48CC-B7C4-E3D7DFC81FB5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53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524000"/>
                <a:gridCol w="6286500"/>
              </a:tblGrid>
              <a:tr h="585107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Severity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Evidence and impact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b="1"/>
                        <a:t>Schedule-phase mismatch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23B32"/>
                          </a:solidFill>
                          <a:latin typeface="Aptos"/>
                          <a:ea typeface="Aptos"/>
                          <a:cs typeface="Aptos"/>
                        </a:rPr>
                        <a:t>CRITICAL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Testing has started on the plan; nearly all MVP1 work remains in Backlog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b="1"/>
                        <a:t>Code-freeze feasibility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23B32"/>
                          </a:solidFill>
                          <a:latin typeface="Aptos"/>
                          <a:ea typeface="Aptos"/>
                          <a:cs typeface="Aptos"/>
                        </a:rPr>
                        <a:t>CRITICAL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85 MVP1 items are not Done with 18 days remaining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b="1"/>
                        <a:t>Unclosed release scope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7A5200"/>
                          </a:solidFill>
                          <a:latin typeface="Aptos"/>
                          <a:ea typeface="Aptos"/>
                          <a:cs typeface="Aptos"/>
                        </a:rPr>
                        <a:t>HIGH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FF3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Backlog definition and prioritization remain ongoing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b="1"/>
                        <a:t>No QA flow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7A5200"/>
                          </a:solidFill>
                          <a:latin typeface="Aptos"/>
                          <a:ea typeface="Aptos"/>
                          <a:cs typeface="Aptos"/>
                        </a:rPr>
                        <a:t>HIGH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FF3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Review and QA both contain zero items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b="1"/>
                        <a:t>Completion evidence gaps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7A5200"/>
                          </a:solidFill>
                          <a:latin typeface="Aptos"/>
                          <a:ea typeface="Aptos"/>
                          <a:cs typeface="Aptos"/>
                        </a:rPr>
                        <a:t>HIGH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FFF3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Several planned capabilities have no verified completion status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b="1"/>
                        <a:t>Weak effort forecasting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MEDIUM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visible estimates or target dates on board items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43AFA-C7C3-4D59-8E4D-7269688E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Item-count completion is directional. The board does not provide enough sizing data for an effort-weighted forecast.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C2E29-6ECA-4D17-A8A2-6AF77E48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7B77"/>
                </a:solidFill>
                <a:latin typeface="Aptos"/>
                <a:ea typeface="Aptos"/>
                <a:cs typeface="Aptos"/>
              </a:rPr>
              <a:t>Sources: GitHub Project status counts and Timeline exit criteria</a:t>
            </a:r>
          </a:p>
        </p:txBody>
      </p:sp>
    </p:spTree>
    <p:extLst>
      <p:ext uri="{BB962C8B-B14F-4D97-AF65-F5344CB8AC3E}">
        <p14:creationId xmlns:p14="http://schemas.microsoft.com/office/powerpoint/2010/main" val="655147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A1CCF-93BD-4B48-AA03-3D1E4B10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Recovery plan and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79AAF-ED1E-4646-8D90-526126ED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A viable October code freeze requires a smaller release baseline and daily movement into 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03991-8E6B-43D7-B9BB-22887BB6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A7A89-A379-4462-B383-0BD2E9C1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3"/>
          </a:solidFill>
          <a:ln xmlns:a="http://schemas.openxmlformats.org/drawingml/2006/main" w="9525">
            <a:solidFill>
              <a:srgbClr val="006B63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D26DD-F7A6-4807-8B4E-9218F2C07620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53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191250"/>
                <a:gridCol w="3143250"/>
              </a:tblGrid>
              <a:tr h="547688">
                <a:tc>
                  <a:txBody>
                    <a:bodyPr/>
                    <a:lstStyle/>
                    <a:p>
                      <a:r>
                        <a:t>Window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Recovery 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Required outcome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T w="9525">
                      <a:solidFill>
                        <a:srgbClr val="CAD5D1"/>
                      </a:solidFill>
                      <a:prstDash val="solid"/>
                    </a:lnT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b="1"/>
                        <a:t>12–13 Oct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Freeze the October release baseline; assign owners, criteria and dates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 realistic MVP1 list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b="1"/>
                        <a:t>14–23 Oct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Move small testable batches through development, review and QA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Daily completed work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b="1"/>
                        <a:t>24–30 Oct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D1"/>
                      </a:solidFill>
                      <a:prstDash val="solid"/>
                    </a:lnL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Stop nonessential features; run regression, smoke and acceptance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Evidence-based go / no-go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D1"/>
                      </a:solidFill>
                      <a:prstDash val="solid"/>
                    </a:lnR>
                    <a:lnB w="9525">
                      <a:solidFill>
                        <a:srgbClr val="CAD5D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57A04-F998-4E55-A9BC-A3D43C73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6B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B63"/>
                </a:solidFill>
                <a:latin typeface="Aptos"/>
                <a:ea typeface="Aptos"/>
                <a:cs typeface="Aptos"/>
              </a:rPr>
              <a:t>Management decisions 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6582A-1008-4D42-BB83-303A5245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B21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FAD57-CF95-400A-8C81-F1054AA8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F8357-8459-4B8B-A6CA-2BFD2E51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672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Which MVP1 items are mandatory for the release candidate?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25673-BCC4-4BF2-A08C-B2F7DED5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667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B21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854D9-A6ED-491C-A608-18B4E2B5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67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1C07A-90A4-4A32-B84D-2E765E25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672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Keep October 30 and reduce scope, or move the milestone dates?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3A9C5-3DDC-4769-85D6-889D1C41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B21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B4F1F-7E2C-424D-89ED-D3C93AD5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294B9-4BAD-472A-8B43-2D266AC6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483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Who owns development, review and QA for each workstream?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F94C2-D454-4F84-9239-EB895CA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448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B2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B21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61560-426E-492A-B7C2-BB2B513B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448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123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231F"/>
                </a:solidFill>
                <a:latin typeface="Aptos"/>
                <a:ea typeface="Aptos"/>
                <a:cs typeface="Aptos"/>
              </a:rPr>
              <a:t>Quality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B4A82-8369-49B8-AF93-640EE42D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4483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3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35F"/>
                </a:solidFill>
                <a:latin typeface="Aptos"/>
                <a:ea typeface="Aptos"/>
                <a:cs typeface="Aptos"/>
              </a:rPr>
              <a:t>What test evidence and defect threshold permit beta entry?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9D57C-4709-42C7-98E7-578E05E7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>
            <a:def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D7B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7B77"/>
                </a:solidFill>
                <a:latin typeface="Aptos"/>
                <a:ea typeface="Aptos"/>
                <a:cs typeface="Aptos"/>
              </a:rPr>
              <a:t>Recommendation: revalidate the 30 Oct code-freeze commitment by 13 Oct 2026</a:t>
            </a:r>
          </a:p>
        </p:txBody>
      </p:sp>
    </p:spTree>
    <p:extLst>
      <p:ext uri="{BB962C8B-B14F-4D97-AF65-F5344CB8AC3E}">
        <p14:creationId xmlns:p14="http://schemas.microsoft.com/office/powerpoint/2010/main" val="1752612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2026-10-12T03:28:31.8370000Z</dcterms:created>
  <dcterms:modified xsi:type="dcterms:W3CDTF">2026-10-12T03:28:31.8370000Z</dcterms:modified>
</coreProperties>
</file>